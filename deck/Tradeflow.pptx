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Tradeflow funds goods that are already on their way. A business gets an advance on a confirmed invoice, bill of lading or equipment order, lenders fund it, and every decision that depends on off-chain facts is made by a Chainlink CRE workflow.</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Exporters, shippers and manufacturers wait months to be paid for goods they have already shipped, and still have to pay for the next order in between. The Asian Development Bank puts the global trade finance gap at 2.5 trillion dollars in 2022.</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business enters a confirmed invoice, bill of lading or equipment order. The buyer confirms it through a link, and nothing lists until they do. Lenders fund it by bank transfer, on-ramped to USDC, or with USDC from a wallet. The business is paid out in fiat as soon as the loan is fully funded, and when the buyer pays, lenders are repaid with interest. Exporters are paid when the goods ship, not months later. Lenders get short, document-backed yield: the two demo loans priced at 9 and 19 percent APR. Tradeflow's model is a fee on each advance.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video starts on its own and runs on Ethereum Sepolia. The buyer confirms the invoice and the listing workflow runs: the credit review is a TEE-declared handler, and the terminal shows the same run in the CRE CLI. A bank deposit is checked against the Chainlink Data Feed, the loan funds and the business is paid out. Repayment is confirmed by two independent sources. Then the bank books a deposit that never reached the chain, and the monitor pauses funding onchain. A second loan goes late and the business is frozen. The longer cut is on the last slide.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workflows, seven handlers. Listing verifies and prices the document, and prices euro documents with the Chainlink EUR/USD Data Feed. Lender runs KYC over Confidential HTTP and only credits a bank deposit when the on-ramp rate is within 1 percent of the feed. Settlement pays out on the funded log event, and an HTTP-triggered run confirms repayment from two independent sources. Monitor runs on a cron, catches late loans and reconciles the books, with an onchain circuit breaker.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listing handler is declared for TEE execution with handlerInTee. On a deployed DON the credit file, the registry response and the sanctions result are processed inside an AWS Nitro enclave, so node operators never see a business's revenue, debts or payment history. From the credit file only the grade, APR and advance come out, written onchain with the document's own terms and hash. Lender KYC and bank deposits use Confidential HTTP with a Vault DON secret. What you see here is the CRE CLI simulation: it runs the same handler locally, says in its banner that it is not a real TEE, and then delivers the report to Sepolia. Deploy access is not enabled for the hackathon.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chain is where the rules are enforced, not just recorded. Loan notes can only be held by verified people. A late loan freezes the business onchain, and a reconciliation mismatch trips a circuit breaker. Every financed document's hash is recorded, so the same invoice cannot be financed twice. Every state change arrives as a signed CRE report, and the contract checks it against policy. Unlike onchain credit pools where a trusted originator attests to its loans, each Tradeflow loan is verified by a CRE workflow before it lists.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was run with the CRE CLI, cre workflow simulate with broadcast, which writes real Sepolia transactions: 14 workflow runs across the four workflows. One run was a rejection with no write, and one monitor run wrote two, so 14 transactions. Deploy access is not enabled, so reports go through the simulator's Sepolia forwarder. 8 contract tests pass, and a 12 step end-to-end test drives the whole lifecycle on a local fork of Sepolia. The banks, KYC provider, credit bureau and on-ramp are simulated services; the stablecoin is a test token. Logs and transaction hashes are in the evidence folder of the repo.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deploy on the CRE network with confidential compute, plug in real banking, on-ramp and payout partners, and add more document types and corridors. Built by CodeDecoders, the team behind GSOS. Thank you.</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for reviewers, not part of the live pitch: the longer cut of the same Sepolia take shown on the demo slide.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1.mp4"/><Relationship Id="rId3" Type="http://schemas.openxmlformats.org/officeDocument/2006/relationships/video" Target="../media/media1.mp4"/><Relationship Id="rId4" Type="http://schemas.openxmlformats.org/officeDocument/2006/relationships/image" Target="../media/image2.png"/><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2.mp4"/><Relationship Id="rId3" Type="http://schemas.openxmlformats.org/officeDocument/2006/relationships/video" Target="../media/media2.mp4"/><Relationship Id="rId4" Type="http://schemas.openxmlformats.org/officeDocument/2006/relationships/image" Target="../media/image5.png"/><Relationship Id="rId5"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202B"/>
        </a:solidFill>
        <a:effectLst/>
      </p:bgPr>
    </p:bg>
    <p:spTree>
      <p:nvGrpSpPr>
        <p:cNvPr id="1" name=""/>
        <p:cNvGrpSpPr/>
        <p:nvPr/>
      </p:nvGrpSpPr>
      <p:grpSpPr/>
      <p:cxnSp>
        <p:nvCxnSpPr>
          <p:cNvPr id="2" name="Connector 1"/>
          <p:cNvCxnSpPr/>
          <p:nvPr/>
        </p:nvCxnSpPr>
        <p:spPr>
          <a:xfrm>
            <a:off x="1060704" y="1783080"/>
            <a:ext cx="3657600" cy="0"/>
          </a:xfrm>
          <a:prstGeom prst="line">
            <a:avLst/>
          </a:prstGeom>
          <a:ln w="28575">
            <a:solidFill>
              <a:srgbClr val="FFFFFF"/>
            </a:solidFill>
            <a:prstDash val="dash"/>
          </a:ln>
        </p:spPr>
      </p:cxnSp>
      <p:sp>
        <p:nvSpPr>
          <p:cNvPr id="3" name="Oval 2"/>
          <p:cNvSpPr/>
          <p:nvPr/>
        </p:nvSpPr>
        <p:spPr>
          <a:xfrm>
            <a:off x="685800" y="1627632"/>
            <a:ext cx="310896" cy="310896"/>
          </a:xfrm>
          <a:prstGeom prst="ellipse">
            <a:avLst/>
          </a:prstGeom>
          <a:solidFill>
            <a:srgbClr val="F2B705"/>
          </a:solidFill>
          <a:ln>
            <a:noFill/>
          </a:ln>
        </p:spPr>
        <p:txBody>
          <a:bodyPr rtlCol="0" anchor="ctr"/>
          <a:lstStyle/>
          <a:p>
            <a:pPr algn="ctr"/>
          </a:p>
        </p:txBody>
      </p:sp>
      <p:sp>
        <p:nvSpPr>
          <p:cNvPr id="4" name="Oval 3"/>
          <p:cNvSpPr/>
          <p:nvPr/>
        </p:nvSpPr>
        <p:spPr>
          <a:xfrm>
            <a:off x="4782312" y="1627632"/>
            <a:ext cx="310896" cy="310896"/>
          </a:xfrm>
          <a:prstGeom prst="ellipse">
            <a:avLst/>
          </a:prstGeom>
          <a:noFill/>
          <a:ln w="32861">
            <a:solidFill>
              <a:srgbClr val="FFFFFF"/>
            </a:solidFill>
          </a:ln>
        </p:spPr>
        <p:txBody>
          <a:bodyPr rtlCol="0" anchor="ctr"/>
          <a:lstStyle/>
          <a:p>
            <a:pPr algn="ctr"/>
          </a:p>
        </p:txBody>
      </p:sp>
      <p:sp>
        <p:nvSpPr>
          <p:cNvPr id="5" name="Wordmark"/>
          <p:cNvSpPr txBox="1"/>
          <p:nvPr/>
        </p:nvSpPr>
        <p:spPr>
          <a:xfrm>
            <a:off x="685800" y="2148840"/>
            <a:ext cx="5669280" cy="1234440"/>
          </a:xfrm>
          <a:prstGeom prst="rect">
            <a:avLst/>
          </a:prstGeom>
          <a:noFill/>
        </p:spPr>
        <p:txBody>
          <a:bodyPr wrap="square" lIns="0" rIns="0" tIns="0" bIns="0" anchor="t">
            <a:noAutofit/>
          </a:bodyPr>
          <a:lstStyle/>
          <a:p>
            <a:pPr algn="l"/>
            <a:r>
              <a:rPr sz="8000" b="1">
                <a:solidFill>
                  <a:srgbClr val="FFFFFF"/>
                </a:solidFill>
                <a:latin typeface="Arial"/>
              </a:rPr>
              <a:t>Tradeflow</a:t>
            </a:r>
          </a:p>
        </p:txBody>
      </p:sp>
      <p:sp>
        <p:nvSpPr>
          <p:cNvPr id="6" name="Tagline"/>
          <p:cNvSpPr txBox="1"/>
          <p:nvPr/>
        </p:nvSpPr>
        <p:spPr>
          <a:xfrm>
            <a:off x="685800" y="3429000"/>
            <a:ext cx="5486400" cy="1188720"/>
          </a:xfrm>
          <a:prstGeom prst="rect">
            <a:avLst/>
          </a:prstGeom>
          <a:noFill/>
        </p:spPr>
        <p:txBody>
          <a:bodyPr wrap="square" lIns="0" rIns="0" tIns="0" bIns="0" anchor="t">
            <a:noAutofit/>
          </a:bodyPr>
          <a:lstStyle/>
          <a:p>
            <a:pPr algn="l">
              <a:lnSpc>
                <a:spcPct val="100000"/>
              </a:lnSpc>
            </a:pPr>
            <a:r>
              <a:rPr sz="3200" b="1">
                <a:solidFill>
                  <a:srgbClr val="F2B705"/>
                </a:solidFill>
                <a:latin typeface="Arial"/>
              </a:rPr>
              <a:t>Fund the goods</a:t>
            </a:r>
          </a:p>
          <a:p>
            <a:pPr algn="l">
              <a:lnSpc>
                <a:spcPct val="100000"/>
              </a:lnSpc>
            </a:pPr>
            <a:r>
              <a:rPr sz="3200" b="1">
                <a:solidFill>
                  <a:srgbClr val="F2B705"/>
                </a:solidFill>
                <a:latin typeface="Arial"/>
              </a:rPr>
              <a:t>already on their way.</a:t>
            </a:r>
          </a:p>
        </p:txBody>
      </p:sp>
      <p:sp>
        <p:nvSpPr>
          <p:cNvPr id="7" name="TextBox 6"/>
          <p:cNvSpPr txBox="1"/>
          <p:nvPr/>
        </p:nvSpPr>
        <p:spPr>
          <a:xfrm>
            <a:off x="685800" y="5257800"/>
            <a:ext cx="5486400" cy="365760"/>
          </a:xfrm>
          <a:prstGeom prst="rect">
            <a:avLst/>
          </a:prstGeom>
          <a:noFill/>
        </p:spPr>
        <p:txBody>
          <a:bodyPr wrap="square" lIns="0" rIns="0" tIns="0" bIns="0" anchor="t">
            <a:noAutofit/>
          </a:bodyPr>
          <a:lstStyle/>
          <a:p>
            <a:pPr algn="l"/>
            <a:r>
              <a:rPr sz="1600" b="0">
                <a:solidFill>
                  <a:srgbClr val="FFFFFF"/>
                </a:solidFill>
                <a:latin typeface="Arial"/>
              </a:rPr>
              <a:t>Maadhav Sharma, Founder &amp; CEO, CodeDecoders</a:t>
            </a:r>
          </a:p>
        </p:txBody>
      </p:sp>
      <p:sp>
        <p:nvSpPr>
          <p:cNvPr id="8" name="TextBox 7"/>
          <p:cNvSpPr txBox="1"/>
          <p:nvPr/>
        </p:nvSpPr>
        <p:spPr>
          <a:xfrm>
            <a:off x="685800" y="5650992"/>
            <a:ext cx="5486400" cy="365760"/>
          </a:xfrm>
          <a:prstGeom prst="rect">
            <a:avLst/>
          </a:prstGeom>
          <a:noFill/>
        </p:spPr>
        <p:txBody>
          <a:bodyPr wrap="square" lIns="0" rIns="0" tIns="0" bIns="0" anchor="t">
            <a:noAutofit/>
          </a:bodyPr>
          <a:lstStyle/>
          <a:p>
            <a:pPr algn="l"/>
            <a:r>
              <a:rPr sz="1400" b="0">
                <a:solidFill>
                  <a:srgbClr val="A9B6C2"/>
                </a:solidFill>
                <a:latin typeface="Arial"/>
              </a:rPr>
              <a:t>TOKEN2049 Origins, Singapore. Built on Chainlink CRE.</a:t>
            </a:r>
          </a:p>
        </p:txBody>
      </p:sp>
      <p:pic>
        <p:nvPicPr>
          <p:cNvPr id="9" name="Loan page" descr="loan.png"/>
          <p:cNvPicPr>
            <a:picLocks noChangeAspect="1"/>
          </p:cNvPicPr>
          <p:nvPr/>
        </p:nvPicPr>
        <p:blipFill>
          <a:blip r:embed="rId2"/>
          <a:stretch>
            <a:fillRect/>
          </a:stretch>
        </p:blipFill>
        <p:spPr>
          <a:xfrm>
            <a:off x="6355080" y="1627632"/>
            <a:ext cx="5150815" cy="2948842"/>
          </a:xfrm>
          <a:prstGeom prst="rect">
            <a:avLst/>
          </a:prstGeom>
        </p:spPr>
      </p:pic>
      <p:sp>
        <p:nvSpPr>
          <p:cNvPr id="10" name="TextBox 9"/>
          <p:cNvSpPr txBox="1"/>
          <p:nvPr/>
        </p:nvSpPr>
        <p:spPr>
          <a:xfrm>
            <a:off x="6355080" y="4713633"/>
            <a:ext cx="5150815" cy="274320"/>
          </a:xfrm>
          <a:prstGeom prst="rect">
            <a:avLst/>
          </a:prstGeom>
          <a:noFill/>
        </p:spPr>
        <p:txBody>
          <a:bodyPr wrap="square" lIns="0" rIns="0" tIns="0" bIns="0" anchor="t">
            <a:noAutofit/>
          </a:bodyPr>
          <a:lstStyle/>
          <a:p>
            <a:pPr algn="l"/>
            <a:r>
              <a:rPr sz="1200" b="0">
                <a:solidFill>
                  <a:srgbClr val="A9B6C2"/>
                </a:solidFill>
                <a:latin typeface="Arial"/>
              </a:rPr>
              <a:t>A listed loan in the app: verified, priced and open for funding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2F4F6"/>
        </a:solidFill>
        <a:effectLst/>
      </p:bgPr>
    </p:bg>
    <p:spTree>
      <p:nvGrpSpPr>
        <p:cNvPr id="1" name=""/>
        <p:cNvGrpSpPr/>
        <p:nvPr/>
      </p:nvGrpSpPr>
      <p:grpSpPr/>
      <p:sp>
        <p:nvSpPr>
          <p:cNvPr id="2" name="Title"/>
          <p:cNvSpPr txBox="1"/>
          <p:nvPr/>
        </p:nvSpPr>
        <p:spPr>
          <a:xfrm>
            <a:off x="685800" y="566928"/>
            <a:ext cx="10820095" cy="731520"/>
          </a:xfrm>
          <a:prstGeom prst="rect">
            <a:avLst/>
          </a:prstGeom>
          <a:noFill/>
        </p:spPr>
        <p:txBody>
          <a:bodyPr wrap="square" lIns="0" rIns="0" tIns="0" bIns="0" anchor="t">
            <a:noAutofit/>
          </a:bodyPr>
          <a:lstStyle/>
          <a:p>
            <a:pPr algn="l"/>
            <a:r>
              <a:rPr sz="4000" b="1">
                <a:solidFill>
                  <a:srgbClr val="14202B"/>
                </a:solidFill>
                <a:latin typeface="Arial"/>
              </a:rPr>
              <a:t>Shipped today, paid months later</a:t>
            </a:r>
          </a:p>
        </p:txBody>
      </p:sp>
      <p:cxnSp>
        <p:nvCxnSpPr>
          <p:cNvPr id="3" name="Connector 2"/>
          <p:cNvCxnSpPr/>
          <p:nvPr/>
        </p:nvCxnSpPr>
        <p:spPr>
          <a:xfrm>
            <a:off x="1115568" y="2331720"/>
            <a:ext cx="9960559" cy="0"/>
          </a:xfrm>
          <a:prstGeom prst="line">
            <a:avLst/>
          </a:prstGeom>
          <a:ln w="31750">
            <a:solidFill>
              <a:srgbClr val="3A4A59"/>
            </a:solidFill>
            <a:prstDash val="dash"/>
          </a:ln>
        </p:spPr>
      </p:cxnSp>
      <p:sp>
        <p:nvSpPr>
          <p:cNvPr id="4" name="Oval 3"/>
          <p:cNvSpPr/>
          <p:nvPr/>
        </p:nvSpPr>
        <p:spPr>
          <a:xfrm>
            <a:off x="685800" y="2148839"/>
            <a:ext cx="365760" cy="365760"/>
          </a:xfrm>
          <a:prstGeom prst="ellipse">
            <a:avLst/>
          </a:prstGeom>
          <a:solidFill>
            <a:srgbClr val="F2B705"/>
          </a:solidFill>
          <a:ln>
            <a:noFill/>
          </a:ln>
        </p:spPr>
        <p:txBody>
          <a:bodyPr rtlCol="0" anchor="ctr"/>
          <a:lstStyle/>
          <a:p>
            <a:pPr algn="ctr"/>
          </a:p>
        </p:txBody>
      </p:sp>
      <p:sp>
        <p:nvSpPr>
          <p:cNvPr id="5" name="Oval 4"/>
          <p:cNvSpPr/>
          <p:nvPr/>
        </p:nvSpPr>
        <p:spPr>
          <a:xfrm>
            <a:off x="11140135" y="2148839"/>
            <a:ext cx="365760" cy="365760"/>
          </a:xfrm>
          <a:prstGeom prst="ellipse">
            <a:avLst/>
          </a:prstGeom>
          <a:noFill/>
          <a:ln w="36512">
            <a:solidFill>
              <a:srgbClr val="14202B"/>
            </a:solidFill>
          </a:ln>
        </p:spPr>
        <p:txBody>
          <a:bodyPr rtlCol="0" anchor="ctr"/>
          <a:lstStyle/>
          <a:p>
            <a:pPr algn="ctr"/>
          </a:p>
        </p:txBody>
      </p:sp>
      <p:sp>
        <p:nvSpPr>
          <p:cNvPr id="6" name="TextBox 5"/>
          <p:cNvSpPr txBox="1"/>
          <p:nvPr/>
        </p:nvSpPr>
        <p:spPr>
          <a:xfrm>
            <a:off x="685800" y="2679191"/>
            <a:ext cx="3657600" cy="365760"/>
          </a:xfrm>
          <a:prstGeom prst="rect">
            <a:avLst/>
          </a:prstGeom>
          <a:noFill/>
        </p:spPr>
        <p:txBody>
          <a:bodyPr wrap="square" lIns="0" rIns="0" tIns="0" bIns="0" anchor="t">
            <a:noAutofit/>
          </a:bodyPr>
          <a:lstStyle/>
          <a:p>
            <a:pPr algn="l"/>
            <a:r>
              <a:rPr sz="1800" b="1">
                <a:solidFill>
                  <a:srgbClr val="14202B"/>
                </a:solidFill>
                <a:latin typeface="Arial"/>
              </a:rPr>
              <a:t>Goods shipped</a:t>
            </a:r>
          </a:p>
        </p:txBody>
      </p:sp>
      <p:sp>
        <p:nvSpPr>
          <p:cNvPr id="7" name="TextBox 6"/>
          <p:cNvSpPr txBox="1"/>
          <p:nvPr/>
        </p:nvSpPr>
        <p:spPr>
          <a:xfrm>
            <a:off x="7848295" y="2679191"/>
            <a:ext cx="3657600" cy="365760"/>
          </a:xfrm>
          <a:prstGeom prst="rect">
            <a:avLst/>
          </a:prstGeom>
          <a:noFill/>
        </p:spPr>
        <p:txBody>
          <a:bodyPr wrap="square" lIns="0" rIns="0" tIns="0" bIns="0" anchor="t">
            <a:noAutofit/>
          </a:bodyPr>
          <a:lstStyle/>
          <a:p>
            <a:pPr algn="r"/>
            <a:r>
              <a:rPr sz="1800" b="1">
                <a:solidFill>
                  <a:srgbClr val="14202B"/>
                </a:solidFill>
                <a:latin typeface="Arial"/>
              </a:rPr>
              <a:t>Buyer pays</a:t>
            </a:r>
          </a:p>
        </p:txBody>
      </p:sp>
      <p:sp>
        <p:nvSpPr>
          <p:cNvPr id="8" name="TextBox 7"/>
          <p:cNvSpPr txBox="1"/>
          <p:nvPr/>
        </p:nvSpPr>
        <p:spPr>
          <a:xfrm>
            <a:off x="685800" y="3291839"/>
            <a:ext cx="10820095" cy="411480"/>
          </a:xfrm>
          <a:prstGeom prst="rect">
            <a:avLst/>
          </a:prstGeom>
          <a:noFill/>
        </p:spPr>
        <p:txBody>
          <a:bodyPr wrap="square" lIns="0" rIns="0" tIns="0" bIns="0" anchor="t">
            <a:noAutofit/>
          </a:bodyPr>
          <a:lstStyle/>
          <a:p>
            <a:pPr algn="l"/>
            <a:r>
              <a:rPr sz="2200" b="0">
                <a:solidFill>
                  <a:srgbClr val="3A4A59"/>
                </a:solidFill>
                <a:latin typeface="Arial"/>
              </a:rPr>
              <a:t>In between, the exporter still has to pay for the next order.</a:t>
            </a:r>
          </a:p>
        </p:txBody>
      </p:sp>
      <p:sp>
        <p:nvSpPr>
          <p:cNvPr id="9" name="Gap"/>
          <p:cNvSpPr txBox="1"/>
          <p:nvPr/>
        </p:nvSpPr>
        <p:spPr>
          <a:xfrm>
            <a:off x="685800" y="4251960"/>
            <a:ext cx="6400800" cy="914400"/>
          </a:xfrm>
          <a:prstGeom prst="rect">
            <a:avLst/>
          </a:prstGeom>
          <a:noFill/>
        </p:spPr>
        <p:txBody>
          <a:bodyPr wrap="square" lIns="0" rIns="0" tIns="0" bIns="0" anchor="t">
            <a:noAutofit/>
          </a:bodyPr>
          <a:lstStyle/>
          <a:p>
            <a:pPr algn="l"/>
            <a:r>
              <a:rPr sz="6000" b="1">
                <a:solidFill>
                  <a:srgbClr val="14202B"/>
                </a:solidFill>
                <a:latin typeface="Arial"/>
              </a:rPr>
              <a:t>$2.5 trillion</a:t>
            </a:r>
          </a:p>
        </p:txBody>
      </p:sp>
      <p:sp>
        <p:nvSpPr>
          <p:cNvPr id="10" name="TextBox 9"/>
          <p:cNvSpPr txBox="1"/>
          <p:nvPr/>
        </p:nvSpPr>
        <p:spPr>
          <a:xfrm>
            <a:off x="685800" y="5166360"/>
            <a:ext cx="6400800" cy="411480"/>
          </a:xfrm>
          <a:prstGeom prst="rect">
            <a:avLst/>
          </a:prstGeom>
          <a:noFill/>
        </p:spPr>
        <p:txBody>
          <a:bodyPr wrap="square" lIns="0" rIns="0" tIns="0" bIns="0" anchor="t">
            <a:noAutofit/>
          </a:bodyPr>
          <a:lstStyle/>
          <a:p>
            <a:pPr algn="l"/>
            <a:r>
              <a:rPr sz="2200" b="0">
                <a:solidFill>
                  <a:srgbClr val="3A4A59"/>
                </a:solidFill>
                <a:latin typeface="Arial"/>
              </a:rPr>
              <a:t>Global trade finance gap, 2022</a:t>
            </a:r>
          </a:p>
        </p:txBody>
      </p:sp>
      <p:sp>
        <p:nvSpPr>
          <p:cNvPr id="11" name="TextBox 10"/>
          <p:cNvSpPr txBox="1"/>
          <p:nvPr/>
        </p:nvSpPr>
        <p:spPr>
          <a:xfrm>
            <a:off x="685800" y="5989320"/>
            <a:ext cx="10820095" cy="274320"/>
          </a:xfrm>
          <a:prstGeom prst="rect">
            <a:avLst/>
          </a:prstGeom>
          <a:noFill/>
        </p:spPr>
        <p:txBody>
          <a:bodyPr wrap="square" lIns="0" rIns="0" tIns="0" bIns="0" anchor="t">
            <a:noAutofit/>
          </a:bodyPr>
          <a:lstStyle/>
          <a:p>
            <a:pPr algn="l"/>
            <a:r>
              <a:rPr sz="1200" b="0">
                <a:solidFill>
                  <a:srgbClr val="5B6A78"/>
                </a:solidFill>
                <a:latin typeface="Arial"/>
              </a:rPr>
              <a:t>Source: Asian Development Bank, 2023 Trade Finance Gaps, Growth, and Jobs Survey.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2F4F6"/>
        </a:solidFill>
        <a:effectLst/>
      </p:bgPr>
    </p:bg>
    <p:spTree>
      <p:nvGrpSpPr>
        <p:cNvPr id="1" name=""/>
        <p:cNvGrpSpPr/>
        <p:nvPr/>
      </p:nvGrpSpPr>
      <p:grpSpPr/>
      <p:sp>
        <p:nvSpPr>
          <p:cNvPr id="2" name="Title"/>
          <p:cNvSpPr txBox="1"/>
          <p:nvPr/>
        </p:nvSpPr>
        <p:spPr>
          <a:xfrm>
            <a:off x="685800" y="566928"/>
            <a:ext cx="10820095" cy="731520"/>
          </a:xfrm>
          <a:prstGeom prst="rect">
            <a:avLst/>
          </a:prstGeom>
          <a:noFill/>
        </p:spPr>
        <p:txBody>
          <a:bodyPr wrap="square" lIns="0" rIns="0" tIns="0" bIns="0" anchor="t">
            <a:noAutofit/>
          </a:bodyPr>
          <a:lstStyle/>
          <a:p>
            <a:pPr algn="l"/>
            <a:r>
              <a:rPr sz="4000" b="1">
                <a:solidFill>
                  <a:srgbClr val="14202B"/>
                </a:solidFill>
                <a:latin typeface="Arial"/>
              </a:rPr>
              <a:t>Sell the wait to lenders</a:t>
            </a:r>
          </a:p>
        </p:txBody>
      </p:sp>
      <p:cxnSp>
        <p:nvCxnSpPr>
          <p:cNvPr id="3" name="Connector 2"/>
          <p:cNvCxnSpPr/>
          <p:nvPr/>
        </p:nvCxnSpPr>
        <p:spPr>
          <a:xfrm>
            <a:off x="1060704" y="1920240"/>
            <a:ext cx="8357615" cy="0"/>
          </a:xfrm>
          <a:prstGeom prst="line">
            <a:avLst/>
          </a:prstGeom>
          <a:ln w="28575">
            <a:solidFill>
              <a:srgbClr val="3A4A59"/>
            </a:solidFill>
            <a:prstDash val="dash"/>
          </a:ln>
        </p:spPr>
      </p:cxnSp>
      <p:sp>
        <p:nvSpPr>
          <p:cNvPr id="4" name="Oval 3"/>
          <p:cNvSpPr/>
          <p:nvPr/>
        </p:nvSpPr>
        <p:spPr>
          <a:xfrm>
            <a:off x="2944002" y="1823862"/>
            <a:ext cx="192755" cy="192755"/>
          </a:xfrm>
          <a:prstGeom prst="ellipse">
            <a:avLst/>
          </a:prstGeom>
          <a:solidFill>
            <a:srgbClr val="14202B"/>
          </a:solidFill>
          <a:ln>
            <a:noFill/>
          </a:ln>
        </p:spPr>
        <p:txBody>
          <a:bodyPr rtlCol="0" anchor="ctr"/>
          <a:lstStyle/>
          <a:p>
            <a:pPr algn="ctr"/>
          </a:p>
        </p:txBody>
      </p:sp>
      <p:sp>
        <p:nvSpPr>
          <p:cNvPr id="5" name="Oval 4"/>
          <p:cNvSpPr/>
          <p:nvPr/>
        </p:nvSpPr>
        <p:spPr>
          <a:xfrm>
            <a:off x="5143134" y="1823862"/>
            <a:ext cx="192755" cy="192755"/>
          </a:xfrm>
          <a:prstGeom prst="ellipse">
            <a:avLst/>
          </a:prstGeom>
          <a:solidFill>
            <a:srgbClr val="14202B"/>
          </a:solidFill>
          <a:ln>
            <a:noFill/>
          </a:ln>
        </p:spPr>
        <p:txBody>
          <a:bodyPr rtlCol="0" anchor="ctr"/>
          <a:lstStyle/>
          <a:p>
            <a:pPr algn="ctr"/>
          </a:p>
        </p:txBody>
      </p:sp>
      <p:sp>
        <p:nvSpPr>
          <p:cNvPr id="6" name="Oval 5"/>
          <p:cNvSpPr/>
          <p:nvPr/>
        </p:nvSpPr>
        <p:spPr>
          <a:xfrm>
            <a:off x="7342266" y="1823862"/>
            <a:ext cx="192755" cy="192755"/>
          </a:xfrm>
          <a:prstGeom prst="ellipse">
            <a:avLst/>
          </a:prstGeom>
          <a:solidFill>
            <a:srgbClr val="14202B"/>
          </a:solidFill>
          <a:ln>
            <a:noFill/>
          </a:ln>
        </p:spPr>
        <p:txBody>
          <a:bodyPr rtlCol="0" anchor="ctr"/>
          <a:lstStyle/>
          <a:p>
            <a:pPr algn="ctr"/>
          </a:p>
        </p:txBody>
      </p:sp>
      <p:sp>
        <p:nvSpPr>
          <p:cNvPr id="7" name="Oval 6"/>
          <p:cNvSpPr/>
          <p:nvPr/>
        </p:nvSpPr>
        <p:spPr>
          <a:xfrm>
            <a:off x="685800" y="1764792"/>
            <a:ext cx="310896" cy="310896"/>
          </a:xfrm>
          <a:prstGeom prst="ellipse">
            <a:avLst/>
          </a:prstGeom>
          <a:solidFill>
            <a:srgbClr val="F2B705"/>
          </a:solidFill>
          <a:ln>
            <a:noFill/>
          </a:ln>
        </p:spPr>
        <p:txBody>
          <a:bodyPr rtlCol="0" anchor="ctr"/>
          <a:lstStyle/>
          <a:p>
            <a:pPr algn="ctr"/>
          </a:p>
        </p:txBody>
      </p:sp>
      <p:sp>
        <p:nvSpPr>
          <p:cNvPr id="8" name="Oval 7"/>
          <p:cNvSpPr/>
          <p:nvPr/>
        </p:nvSpPr>
        <p:spPr>
          <a:xfrm>
            <a:off x="9482328" y="1764792"/>
            <a:ext cx="310896" cy="310896"/>
          </a:xfrm>
          <a:prstGeom prst="ellipse">
            <a:avLst/>
          </a:prstGeom>
          <a:noFill/>
          <a:ln w="32861">
            <a:solidFill>
              <a:srgbClr val="14202B"/>
            </a:solidFill>
          </a:ln>
        </p:spPr>
        <p:txBody>
          <a:bodyPr rtlCol="0" anchor="ctr"/>
          <a:lstStyle/>
          <a:p>
            <a:pPr algn="ctr"/>
          </a:p>
        </p:txBody>
      </p:sp>
      <p:sp>
        <p:nvSpPr>
          <p:cNvPr id="9" name="TextBox 8"/>
          <p:cNvSpPr txBox="1"/>
          <p:nvPr/>
        </p:nvSpPr>
        <p:spPr>
          <a:xfrm>
            <a:off x="685800" y="2304288"/>
            <a:ext cx="2020824" cy="457200"/>
          </a:xfrm>
          <a:prstGeom prst="rect">
            <a:avLst/>
          </a:prstGeom>
          <a:noFill/>
        </p:spPr>
        <p:txBody>
          <a:bodyPr wrap="square" lIns="0" rIns="0" tIns="0" bIns="0" anchor="t">
            <a:noAutofit/>
          </a:bodyPr>
          <a:lstStyle/>
          <a:p>
            <a:pPr algn="l"/>
            <a:r>
              <a:rPr sz="2400" b="1">
                <a:solidFill>
                  <a:srgbClr val="14202B"/>
                </a:solidFill>
                <a:latin typeface="Arial"/>
              </a:rPr>
              <a:t>Business</a:t>
            </a:r>
          </a:p>
        </p:txBody>
      </p:sp>
      <p:sp>
        <p:nvSpPr>
          <p:cNvPr id="10" name="TextBox 9"/>
          <p:cNvSpPr txBox="1"/>
          <p:nvPr/>
        </p:nvSpPr>
        <p:spPr>
          <a:xfrm>
            <a:off x="685800" y="2788920"/>
            <a:ext cx="2171700" cy="365760"/>
          </a:xfrm>
          <a:prstGeom prst="rect">
            <a:avLst/>
          </a:prstGeom>
          <a:noFill/>
        </p:spPr>
        <p:txBody>
          <a:bodyPr wrap="square" lIns="0" rIns="0" tIns="0" bIns="0" anchor="t">
            <a:noAutofit/>
          </a:bodyPr>
          <a:lstStyle/>
          <a:p>
            <a:pPr algn="l"/>
            <a:r>
              <a:rPr sz="1700" b="0">
                <a:solidFill>
                  <a:srgbClr val="3A4A59"/>
                </a:solidFill>
                <a:latin typeface="Arial"/>
              </a:rPr>
              <a:t>Asks for an advance</a:t>
            </a:r>
          </a:p>
        </p:txBody>
      </p:sp>
      <p:sp>
        <p:nvSpPr>
          <p:cNvPr id="11" name="TextBox 10"/>
          <p:cNvSpPr txBox="1"/>
          <p:nvPr/>
        </p:nvSpPr>
        <p:spPr>
          <a:xfrm>
            <a:off x="2884932" y="2304288"/>
            <a:ext cx="2020824" cy="457200"/>
          </a:xfrm>
          <a:prstGeom prst="rect">
            <a:avLst/>
          </a:prstGeom>
          <a:noFill/>
        </p:spPr>
        <p:txBody>
          <a:bodyPr wrap="square" lIns="0" rIns="0" tIns="0" bIns="0" anchor="t">
            <a:noAutofit/>
          </a:bodyPr>
          <a:lstStyle/>
          <a:p>
            <a:pPr algn="l"/>
            <a:r>
              <a:rPr sz="2400" b="1">
                <a:solidFill>
                  <a:srgbClr val="14202B"/>
                </a:solidFill>
                <a:latin typeface="Arial"/>
              </a:rPr>
              <a:t>Buyer</a:t>
            </a:r>
          </a:p>
        </p:txBody>
      </p:sp>
      <p:sp>
        <p:nvSpPr>
          <p:cNvPr id="12" name="TextBox 11"/>
          <p:cNvSpPr txBox="1"/>
          <p:nvPr/>
        </p:nvSpPr>
        <p:spPr>
          <a:xfrm>
            <a:off x="2884932" y="2788920"/>
            <a:ext cx="2171700" cy="365760"/>
          </a:xfrm>
          <a:prstGeom prst="rect">
            <a:avLst/>
          </a:prstGeom>
          <a:noFill/>
        </p:spPr>
        <p:txBody>
          <a:bodyPr wrap="square" lIns="0" rIns="0" tIns="0" bIns="0" anchor="t">
            <a:noAutofit/>
          </a:bodyPr>
          <a:lstStyle/>
          <a:p>
            <a:pPr algn="l"/>
            <a:r>
              <a:rPr sz="1700" b="0">
                <a:solidFill>
                  <a:srgbClr val="3A4A59"/>
                </a:solidFill>
                <a:latin typeface="Arial"/>
              </a:rPr>
              <a:t>Confirms by link</a:t>
            </a:r>
          </a:p>
        </p:txBody>
      </p:sp>
      <p:sp>
        <p:nvSpPr>
          <p:cNvPr id="13" name="TextBox 12"/>
          <p:cNvSpPr txBox="1"/>
          <p:nvPr/>
        </p:nvSpPr>
        <p:spPr>
          <a:xfrm>
            <a:off x="5084064" y="2304288"/>
            <a:ext cx="2020824" cy="457200"/>
          </a:xfrm>
          <a:prstGeom prst="rect">
            <a:avLst/>
          </a:prstGeom>
          <a:noFill/>
        </p:spPr>
        <p:txBody>
          <a:bodyPr wrap="square" lIns="0" rIns="0" tIns="0" bIns="0" anchor="t">
            <a:noAutofit/>
          </a:bodyPr>
          <a:lstStyle/>
          <a:p>
            <a:pPr algn="l"/>
            <a:r>
              <a:rPr sz="2400" b="1">
                <a:solidFill>
                  <a:srgbClr val="14202B"/>
                </a:solidFill>
                <a:latin typeface="Arial"/>
              </a:rPr>
              <a:t>Lenders</a:t>
            </a:r>
          </a:p>
        </p:txBody>
      </p:sp>
      <p:sp>
        <p:nvSpPr>
          <p:cNvPr id="14" name="TextBox 13"/>
          <p:cNvSpPr txBox="1"/>
          <p:nvPr/>
        </p:nvSpPr>
        <p:spPr>
          <a:xfrm>
            <a:off x="5084064" y="2788920"/>
            <a:ext cx="2171700" cy="365760"/>
          </a:xfrm>
          <a:prstGeom prst="rect">
            <a:avLst/>
          </a:prstGeom>
          <a:noFill/>
        </p:spPr>
        <p:txBody>
          <a:bodyPr wrap="square" lIns="0" rIns="0" tIns="0" bIns="0" anchor="t">
            <a:noAutofit/>
          </a:bodyPr>
          <a:lstStyle/>
          <a:p>
            <a:pPr algn="l"/>
            <a:r>
              <a:rPr sz="1700" b="0">
                <a:solidFill>
                  <a:srgbClr val="3A4A59"/>
                </a:solidFill>
                <a:latin typeface="Arial"/>
              </a:rPr>
              <a:t>Fund in fiat or USDC</a:t>
            </a:r>
          </a:p>
        </p:txBody>
      </p:sp>
      <p:sp>
        <p:nvSpPr>
          <p:cNvPr id="15" name="TextBox 14"/>
          <p:cNvSpPr txBox="1"/>
          <p:nvPr/>
        </p:nvSpPr>
        <p:spPr>
          <a:xfrm>
            <a:off x="7283196" y="2304288"/>
            <a:ext cx="2020824" cy="457200"/>
          </a:xfrm>
          <a:prstGeom prst="rect">
            <a:avLst/>
          </a:prstGeom>
          <a:noFill/>
        </p:spPr>
        <p:txBody>
          <a:bodyPr wrap="square" lIns="0" rIns="0" tIns="0" bIns="0" anchor="t">
            <a:noAutofit/>
          </a:bodyPr>
          <a:lstStyle/>
          <a:p>
            <a:pPr algn="l"/>
            <a:r>
              <a:rPr sz="2400" b="1">
                <a:solidFill>
                  <a:srgbClr val="14202B"/>
                </a:solidFill>
                <a:latin typeface="Arial"/>
              </a:rPr>
              <a:t>Business</a:t>
            </a:r>
          </a:p>
        </p:txBody>
      </p:sp>
      <p:sp>
        <p:nvSpPr>
          <p:cNvPr id="16" name="TextBox 15"/>
          <p:cNvSpPr txBox="1"/>
          <p:nvPr/>
        </p:nvSpPr>
        <p:spPr>
          <a:xfrm>
            <a:off x="7283196" y="2788920"/>
            <a:ext cx="2171700" cy="365760"/>
          </a:xfrm>
          <a:prstGeom prst="rect">
            <a:avLst/>
          </a:prstGeom>
          <a:noFill/>
        </p:spPr>
        <p:txBody>
          <a:bodyPr wrap="square" lIns="0" rIns="0" tIns="0" bIns="0" anchor="t">
            <a:noAutofit/>
          </a:bodyPr>
          <a:lstStyle/>
          <a:p>
            <a:pPr algn="l"/>
            <a:r>
              <a:rPr sz="1700" b="0">
                <a:solidFill>
                  <a:srgbClr val="3A4A59"/>
                </a:solidFill>
                <a:latin typeface="Arial"/>
              </a:rPr>
              <a:t>Is paid out in fiat</a:t>
            </a:r>
          </a:p>
        </p:txBody>
      </p:sp>
      <p:sp>
        <p:nvSpPr>
          <p:cNvPr id="17" name="TextBox 16"/>
          <p:cNvSpPr txBox="1"/>
          <p:nvPr/>
        </p:nvSpPr>
        <p:spPr>
          <a:xfrm>
            <a:off x="9482328" y="2304288"/>
            <a:ext cx="2020824" cy="457200"/>
          </a:xfrm>
          <a:prstGeom prst="rect">
            <a:avLst/>
          </a:prstGeom>
          <a:noFill/>
        </p:spPr>
        <p:txBody>
          <a:bodyPr wrap="square" lIns="0" rIns="0" tIns="0" bIns="0" anchor="t">
            <a:noAutofit/>
          </a:bodyPr>
          <a:lstStyle/>
          <a:p>
            <a:pPr algn="l"/>
            <a:r>
              <a:rPr sz="2400" b="1">
                <a:solidFill>
                  <a:srgbClr val="14202B"/>
                </a:solidFill>
                <a:latin typeface="Arial"/>
              </a:rPr>
              <a:t>Buyer</a:t>
            </a:r>
          </a:p>
        </p:txBody>
      </p:sp>
      <p:sp>
        <p:nvSpPr>
          <p:cNvPr id="18" name="TextBox 17"/>
          <p:cNvSpPr txBox="1"/>
          <p:nvPr/>
        </p:nvSpPr>
        <p:spPr>
          <a:xfrm>
            <a:off x="9482328" y="2788920"/>
            <a:ext cx="2171700" cy="365760"/>
          </a:xfrm>
          <a:prstGeom prst="rect">
            <a:avLst/>
          </a:prstGeom>
          <a:noFill/>
        </p:spPr>
        <p:txBody>
          <a:bodyPr wrap="square" lIns="0" rIns="0" tIns="0" bIns="0" anchor="t">
            <a:noAutofit/>
          </a:bodyPr>
          <a:lstStyle/>
          <a:p>
            <a:pPr algn="l"/>
            <a:r>
              <a:rPr sz="1700" b="0">
                <a:solidFill>
                  <a:srgbClr val="3A4A59"/>
                </a:solidFill>
                <a:latin typeface="Arial"/>
              </a:rPr>
              <a:t>Pays, lenders repaid</a:t>
            </a:r>
          </a:p>
        </p:txBody>
      </p:sp>
      <p:sp>
        <p:nvSpPr>
          <p:cNvPr id="19" name="TextBox 18"/>
          <p:cNvSpPr txBox="1"/>
          <p:nvPr/>
        </p:nvSpPr>
        <p:spPr>
          <a:xfrm>
            <a:off x="685800" y="3657600"/>
            <a:ext cx="10820095" cy="320040"/>
          </a:xfrm>
          <a:prstGeom prst="rect">
            <a:avLst/>
          </a:prstGeom>
          <a:noFill/>
        </p:spPr>
        <p:txBody>
          <a:bodyPr wrap="square" lIns="0" rIns="0" tIns="0" bIns="0" anchor="t">
            <a:noAutofit/>
          </a:bodyPr>
          <a:lstStyle/>
          <a:p>
            <a:pPr algn="l"/>
            <a:r>
              <a:rPr sz="1600" b="1">
                <a:solidFill>
                  <a:srgbClr val="5B6A78"/>
                </a:solidFill>
                <a:latin typeface="Arial"/>
              </a:rPr>
              <a:t>Who benefits</a:t>
            </a:r>
          </a:p>
        </p:txBody>
      </p:sp>
      <p:sp>
        <p:nvSpPr>
          <p:cNvPr id="20" name="Exporters benefit"/>
          <p:cNvSpPr/>
          <p:nvPr/>
        </p:nvSpPr>
        <p:spPr>
          <a:xfrm>
            <a:off x="685800" y="4041648"/>
            <a:ext cx="3423818" cy="1188720"/>
          </a:xfrm>
          <a:prstGeom prst="roundRect">
            <a:avLst>
              <a:gd name="adj" fmla="val 7692"/>
            </a:avLst>
          </a:prstGeom>
          <a:solidFill>
            <a:srgbClr val="FFFFFF"/>
          </a:solidFill>
          <a:ln w="12700">
            <a:solidFill>
              <a:srgbClr val="D9DFE5"/>
            </a:solidFill>
          </a:ln>
        </p:spPr>
        <p:txBody>
          <a:bodyPr rtlCol="0" anchor="ctr"/>
          <a:lstStyle/>
          <a:p>
            <a:pPr algn="ctr"/>
          </a:p>
        </p:txBody>
      </p:sp>
      <p:sp>
        <p:nvSpPr>
          <p:cNvPr id="21" name="Oval 20"/>
          <p:cNvSpPr/>
          <p:nvPr/>
        </p:nvSpPr>
        <p:spPr>
          <a:xfrm>
            <a:off x="941831" y="4315968"/>
            <a:ext cx="146304" cy="146304"/>
          </a:xfrm>
          <a:prstGeom prst="ellipse">
            <a:avLst/>
          </a:prstGeom>
          <a:solidFill>
            <a:srgbClr val="F2B705"/>
          </a:solidFill>
          <a:ln>
            <a:noFill/>
          </a:ln>
        </p:spPr>
        <p:txBody>
          <a:bodyPr rtlCol="0" anchor="ctr"/>
          <a:lstStyle/>
          <a:p>
            <a:pPr algn="ctr"/>
          </a:p>
        </p:txBody>
      </p:sp>
      <p:sp>
        <p:nvSpPr>
          <p:cNvPr id="22" name="TextBox 21"/>
          <p:cNvSpPr txBox="1"/>
          <p:nvPr/>
        </p:nvSpPr>
        <p:spPr>
          <a:xfrm>
            <a:off x="1234440" y="4224528"/>
            <a:ext cx="2646578" cy="365760"/>
          </a:xfrm>
          <a:prstGeom prst="rect">
            <a:avLst/>
          </a:prstGeom>
          <a:noFill/>
        </p:spPr>
        <p:txBody>
          <a:bodyPr wrap="square" lIns="0" rIns="0" tIns="0" bIns="0" anchor="t">
            <a:noAutofit/>
          </a:bodyPr>
          <a:lstStyle/>
          <a:p>
            <a:pPr algn="l"/>
            <a:r>
              <a:rPr sz="2000" b="1">
                <a:solidFill>
                  <a:srgbClr val="14202B"/>
                </a:solidFill>
                <a:latin typeface="Arial"/>
              </a:rPr>
              <a:t>Exporters</a:t>
            </a:r>
          </a:p>
        </p:txBody>
      </p:sp>
      <p:sp>
        <p:nvSpPr>
          <p:cNvPr id="23" name="TextBox 22"/>
          <p:cNvSpPr txBox="1"/>
          <p:nvPr/>
        </p:nvSpPr>
        <p:spPr>
          <a:xfrm>
            <a:off x="1234440" y="4608576"/>
            <a:ext cx="2646578" cy="548640"/>
          </a:xfrm>
          <a:prstGeom prst="rect">
            <a:avLst/>
          </a:prstGeom>
          <a:noFill/>
        </p:spPr>
        <p:txBody>
          <a:bodyPr wrap="square" lIns="0" rIns="0" tIns="0" bIns="0" anchor="t">
            <a:noAutofit/>
          </a:bodyPr>
          <a:lstStyle/>
          <a:p>
            <a:pPr algn="l">
              <a:lnSpc>
                <a:spcPct val="105000"/>
              </a:lnSpc>
            </a:pPr>
            <a:r>
              <a:rPr sz="1500" b="0">
                <a:solidFill>
                  <a:srgbClr val="3A4A59"/>
                </a:solidFill>
                <a:latin typeface="Arial"/>
              </a:rPr>
              <a:t>Paid when the goods ship</a:t>
            </a:r>
          </a:p>
        </p:txBody>
      </p:sp>
      <p:sp>
        <p:nvSpPr>
          <p:cNvPr id="24" name="Lenders benefit"/>
          <p:cNvSpPr/>
          <p:nvPr/>
        </p:nvSpPr>
        <p:spPr>
          <a:xfrm>
            <a:off x="4383938" y="4041648"/>
            <a:ext cx="3423818" cy="1188720"/>
          </a:xfrm>
          <a:prstGeom prst="roundRect">
            <a:avLst>
              <a:gd name="adj" fmla="val 7692"/>
            </a:avLst>
          </a:prstGeom>
          <a:solidFill>
            <a:srgbClr val="FFFFFF"/>
          </a:solidFill>
          <a:ln w="12700">
            <a:solidFill>
              <a:srgbClr val="D9DFE5"/>
            </a:solidFill>
          </a:ln>
        </p:spPr>
        <p:txBody>
          <a:bodyPr rtlCol="0" anchor="ctr"/>
          <a:lstStyle/>
          <a:p>
            <a:pPr algn="ctr"/>
          </a:p>
        </p:txBody>
      </p:sp>
      <p:sp>
        <p:nvSpPr>
          <p:cNvPr id="25" name="Oval 24"/>
          <p:cNvSpPr/>
          <p:nvPr/>
        </p:nvSpPr>
        <p:spPr>
          <a:xfrm>
            <a:off x="4639970" y="4315968"/>
            <a:ext cx="146304" cy="146304"/>
          </a:xfrm>
          <a:prstGeom prst="ellipse">
            <a:avLst/>
          </a:prstGeom>
          <a:solidFill>
            <a:srgbClr val="F2B705"/>
          </a:solidFill>
          <a:ln>
            <a:noFill/>
          </a:ln>
        </p:spPr>
        <p:txBody>
          <a:bodyPr rtlCol="0" anchor="ctr"/>
          <a:lstStyle/>
          <a:p>
            <a:pPr algn="ctr"/>
          </a:p>
        </p:txBody>
      </p:sp>
      <p:sp>
        <p:nvSpPr>
          <p:cNvPr id="26" name="TextBox 25"/>
          <p:cNvSpPr txBox="1"/>
          <p:nvPr/>
        </p:nvSpPr>
        <p:spPr>
          <a:xfrm>
            <a:off x="4932578" y="4224528"/>
            <a:ext cx="2646578" cy="365760"/>
          </a:xfrm>
          <a:prstGeom prst="rect">
            <a:avLst/>
          </a:prstGeom>
          <a:noFill/>
        </p:spPr>
        <p:txBody>
          <a:bodyPr wrap="square" lIns="0" rIns="0" tIns="0" bIns="0" anchor="t">
            <a:noAutofit/>
          </a:bodyPr>
          <a:lstStyle/>
          <a:p>
            <a:pPr algn="l"/>
            <a:r>
              <a:rPr sz="2000" b="1">
                <a:solidFill>
                  <a:srgbClr val="14202B"/>
                </a:solidFill>
                <a:latin typeface="Arial"/>
              </a:rPr>
              <a:t>Lenders</a:t>
            </a:r>
          </a:p>
        </p:txBody>
      </p:sp>
      <p:sp>
        <p:nvSpPr>
          <p:cNvPr id="27" name="TextBox 26"/>
          <p:cNvSpPr txBox="1"/>
          <p:nvPr/>
        </p:nvSpPr>
        <p:spPr>
          <a:xfrm>
            <a:off x="4932578" y="4608576"/>
            <a:ext cx="2646578" cy="548640"/>
          </a:xfrm>
          <a:prstGeom prst="rect">
            <a:avLst/>
          </a:prstGeom>
          <a:noFill/>
        </p:spPr>
        <p:txBody>
          <a:bodyPr wrap="square" lIns="0" rIns="0" tIns="0" bIns="0" anchor="t">
            <a:noAutofit/>
          </a:bodyPr>
          <a:lstStyle/>
          <a:p>
            <a:pPr algn="l">
              <a:lnSpc>
                <a:spcPct val="105000"/>
              </a:lnSpc>
            </a:pPr>
            <a:r>
              <a:rPr sz="1500" b="0">
                <a:solidFill>
                  <a:srgbClr val="3A4A59"/>
                </a:solidFill>
                <a:latin typeface="Arial"/>
              </a:rPr>
              <a:t>Short, document-backed yield: 9% to 19% APR in the demo</a:t>
            </a:r>
          </a:p>
        </p:txBody>
      </p:sp>
      <p:sp>
        <p:nvSpPr>
          <p:cNvPr id="28" name="Tradeflow benefit"/>
          <p:cNvSpPr/>
          <p:nvPr/>
        </p:nvSpPr>
        <p:spPr>
          <a:xfrm>
            <a:off x="8082076" y="4041648"/>
            <a:ext cx="3423818" cy="1188720"/>
          </a:xfrm>
          <a:prstGeom prst="roundRect">
            <a:avLst>
              <a:gd name="adj" fmla="val 7692"/>
            </a:avLst>
          </a:prstGeom>
          <a:solidFill>
            <a:srgbClr val="FFFFFF"/>
          </a:solidFill>
          <a:ln w="12700">
            <a:solidFill>
              <a:srgbClr val="D9DFE5"/>
            </a:solidFill>
          </a:ln>
        </p:spPr>
        <p:txBody>
          <a:bodyPr rtlCol="0" anchor="ctr"/>
          <a:lstStyle/>
          <a:p>
            <a:pPr algn="ctr"/>
          </a:p>
        </p:txBody>
      </p:sp>
      <p:sp>
        <p:nvSpPr>
          <p:cNvPr id="29" name="Oval 28"/>
          <p:cNvSpPr/>
          <p:nvPr/>
        </p:nvSpPr>
        <p:spPr>
          <a:xfrm>
            <a:off x="8338108" y="4315968"/>
            <a:ext cx="146304" cy="146304"/>
          </a:xfrm>
          <a:prstGeom prst="ellipse">
            <a:avLst/>
          </a:prstGeom>
          <a:solidFill>
            <a:srgbClr val="F2B705"/>
          </a:solidFill>
          <a:ln>
            <a:noFill/>
          </a:ln>
        </p:spPr>
        <p:txBody>
          <a:bodyPr rtlCol="0" anchor="ctr"/>
          <a:lstStyle/>
          <a:p>
            <a:pPr algn="ctr"/>
          </a:p>
        </p:txBody>
      </p:sp>
      <p:sp>
        <p:nvSpPr>
          <p:cNvPr id="30" name="TextBox 29"/>
          <p:cNvSpPr txBox="1"/>
          <p:nvPr/>
        </p:nvSpPr>
        <p:spPr>
          <a:xfrm>
            <a:off x="8630716" y="4224528"/>
            <a:ext cx="2646578" cy="365760"/>
          </a:xfrm>
          <a:prstGeom prst="rect">
            <a:avLst/>
          </a:prstGeom>
          <a:noFill/>
        </p:spPr>
        <p:txBody>
          <a:bodyPr wrap="square" lIns="0" rIns="0" tIns="0" bIns="0" anchor="t">
            <a:noAutofit/>
          </a:bodyPr>
          <a:lstStyle/>
          <a:p>
            <a:pPr algn="l"/>
            <a:r>
              <a:rPr sz="2000" b="1">
                <a:solidFill>
                  <a:srgbClr val="14202B"/>
                </a:solidFill>
                <a:latin typeface="Arial"/>
              </a:rPr>
              <a:t>Tradeflow</a:t>
            </a:r>
          </a:p>
        </p:txBody>
      </p:sp>
      <p:sp>
        <p:nvSpPr>
          <p:cNvPr id="31" name="TextBox 30"/>
          <p:cNvSpPr txBox="1"/>
          <p:nvPr/>
        </p:nvSpPr>
        <p:spPr>
          <a:xfrm>
            <a:off x="8630716" y="4608576"/>
            <a:ext cx="2646578" cy="548640"/>
          </a:xfrm>
          <a:prstGeom prst="rect">
            <a:avLst/>
          </a:prstGeom>
          <a:noFill/>
        </p:spPr>
        <p:txBody>
          <a:bodyPr wrap="square" lIns="0" rIns="0" tIns="0" bIns="0" anchor="t">
            <a:noAutofit/>
          </a:bodyPr>
          <a:lstStyle/>
          <a:p>
            <a:pPr algn="l">
              <a:lnSpc>
                <a:spcPct val="105000"/>
              </a:lnSpc>
            </a:pPr>
            <a:r>
              <a:rPr sz="1500" b="0">
                <a:solidFill>
                  <a:srgbClr val="3A4A59"/>
                </a:solidFill>
                <a:latin typeface="Arial"/>
              </a:rPr>
              <a:t>A fee on each advance</a:t>
            </a:r>
          </a:p>
        </p:txBody>
      </p:sp>
      <p:sp>
        <p:nvSpPr>
          <p:cNvPr id="32" name="TextBox 31"/>
          <p:cNvSpPr txBox="1"/>
          <p:nvPr/>
        </p:nvSpPr>
        <p:spPr>
          <a:xfrm>
            <a:off x="685800" y="5715000"/>
            <a:ext cx="10820095" cy="411480"/>
          </a:xfrm>
          <a:prstGeom prst="rect">
            <a:avLst/>
          </a:prstGeom>
          <a:noFill/>
        </p:spPr>
        <p:txBody>
          <a:bodyPr wrap="square" lIns="0" rIns="0" tIns="0" bIns="0" anchor="t">
            <a:noAutofit/>
          </a:bodyPr>
          <a:lstStyle/>
          <a:p>
            <a:pPr algn="l"/>
            <a:r>
              <a:rPr sz="2000" b="0">
                <a:solidFill>
                  <a:srgbClr val="3A4A59"/>
                </a:solidFill>
                <a:latin typeface="Arial"/>
              </a:rPr>
              <a:t>Every off-chain decision is a </a:t>
            </a:r>
            <a:r>
              <a:rPr sz="2000" b="1">
                <a:solidFill>
                  <a:srgbClr val="14202B"/>
                </a:solidFill>
                <a:latin typeface="Arial"/>
              </a:rPr>
              <a:t>Chainlink CRE workflow</a:t>
            </a:r>
            <a:r>
              <a:rPr sz="2000" b="0">
                <a:solidFill>
                  <a:srgbClr val="3A4A59"/>
                </a:solidFill>
                <a:latin typeface="Arial"/>
              </a:rPr>
              <a:t>, written onchain as a signed report.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4202B"/>
        </a:solidFill>
        <a:effectLst/>
      </p:bgPr>
    </p:bg>
    <p:spTree>
      <p:nvGrpSpPr>
        <p:cNvPr id="1" name=""/>
        <p:cNvGrpSpPr/>
        <p:nvPr/>
      </p:nvGrpSpPr>
      <p:grpSpPr/>
      <p:sp>
        <p:nvSpPr>
          <p:cNvPr id="2" name="Screen"/>
          <p:cNvSpPr/>
          <p:nvPr/>
        </p:nvSpPr>
        <p:spPr>
          <a:xfrm>
            <a:off x="612648" y="681228"/>
            <a:ext cx="8705088" cy="5495544"/>
          </a:xfrm>
          <a:prstGeom prst="roundRect">
            <a:avLst>
              <a:gd name="adj" fmla="val 1331"/>
            </a:avLst>
          </a:prstGeom>
          <a:solidFill>
            <a:srgbClr val="243444"/>
          </a:solidFill>
          <a:ln>
            <a:noFill/>
          </a:ln>
        </p:spPr>
        <p:txBody>
          <a:bodyPr rtlCol="0" anchor="ctr"/>
          <a:lstStyle/>
          <a:p>
            <a:pPr algn="ctr"/>
          </a:p>
        </p:txBody>
      </p:sp>
      <p:pic>
        <p:nvPicPr>
          <p:cNvPr id="3" name="Demo">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685800" y="754380"/>
            <a:ext cx="8558784" cy="5349240"/>
          </a:xfrm>
          <a:prstGeom prst="rect">
            <a:avLst/>
          </a:prstGeom>
        </p:spPr>
      </p:pic>
      <p:sp>
        <p:nvSpPr>
          <p:cNvPr id="8" name="TextBox 7"/>
          <p:cNvSpPr txBox="1"/>
          <p:nvPr/>
        </p:nvSpPr>
        <p:spPr>
          <a:xfrm>
            <a:off x="9656063" y="708660"/>
            <a:ext cx="1849831" cy="548640"/>
          </a:xfrm>
          <a:prstGeom prst="rect">
            <a:avLst/>
          </a:prstGeom>
          <a:noFill/>
        </p:spPr>
        <p:txBody>
          <a:bodyPr wrap="square" lIns="0" rIns="0" tIns="0" bIns="0" anchor="t">
            <a:noAutofit/>
          </a:bodyPr>
          <a:lstStyle/>
          <a:p>
            <a:pPr algn="l"/>
            <a:r>
              <a:rPr sz="3200" b="1">
                <a:solidFill>
                  <a:srgbClr val="FFFFFF"/>
                </a:solidFill>
                <a:latin typeface="Arial"/>
              </a:rPr>
              <a:t>Demo</a:t>
            </a:r>
          </a:p>
        </p:txBody>
      </p:sp>
      <p:sp>
        <p:nvSpPr>
          <p:cNvPr id="9" name="TextBox 8"/>
          <p:cNvSpPr txBox="1"/>
          <p:nvPr/>
        </p:nvSpPr>
        <p:spPr>
          <a:xfrm>
            <a:off x="9656063" y="1321308"/>
            <a:ext cx="1849831" cy="365760"/>
          </a:xfrm>
          <a:prstGeom prst="rect">
            <a:avLst/>
          </a:prstGeom>
          <a:noFill/>
        </p:spPr>
        <p:txBody>
          <a:bodyPr wrap="square" lIns="0" rIns="0" tIns="0" bIns="0" anchor="t">
            <a:noAutofit/>
          </a:bodyPr>
          <a:lstStyle/>
          <a:p>
            <a:pPr algn="l"/>
            <a:r>
              <a:rPr sz="2000" b="1">
                <a:solidFill>
                  <a:srgbClr val="F2B705"/>
                </a:solidFill>
                <a:latin typeface="Arial"/>
              </a:rPr>
              <a:t>1:27</a:t>
            </a:r>
          </a:p>
        </p:txBody>
      </p:sp>
      <p:sp>
        <p:nvSpPr>
          <p:cNvPr id="10" name="TextBox 9"/>
          <p:cNvSpPr txBox="1"/>
          <p:nvPr/>
        </p:nvSpPr>
        <p:spPr>
          <a:xfrm>
            <a:off x="9656063" y="1714500"/>
            <a:ext cx="1849831" cy="548640"/>
          </a:xfrm>
          <a:prstGeom prst="rect">
            <a:avLst/>
          </a:prstGeom>
          <a:noFill/>
        </p:spPr>
        <p:txBody>
          <a:bodyPr wrap="square" lIns="0" rIns="0" tIns="0" bIns="0" anchor="t">
            <a:noAutofit/>
          </a:bodyPr>
          <a:lstStyle/>
          <a:p>
            <a:pPr algn="l">
              <a:lnSpc>
                <a:spcPct val="110000"/>
              </a:lnSpc>
            </a:pPr>
            <a:r>
              <a:rPr sz="1200" b="0">
                <a:solidFill>
                  <a:srgbClr val="A9B6C2"/>
                </a:solidFill>
                <a:latin typeface="Arial"/>
              </a:rPr>
              <a:t>Full 2:46 cut: last slide</a:t>
            </a:r>
          </a:p>
        </p:txBody>
      </p:sp>
      <p:cxnSp>
        <p:nvCxnSpPr>
          <p:cNvPr id="11" name="Connector 10"/>
          <p:cNvCxnSpPr/>
          <p:nvPr/>
        </p:nvCxnSpPr>
        <p:spPr>
          <a:xfrm>
            <a:off x="9765791" y="2610612"/>
            <a:ext cx="0" cy="3145536"/>
          </a:xfrm>
          <a:prstGeom prst="line">
            <a:avLst/>
          </a:prstGeom>
          <a:ln w="25400">
            <a:solidFill>
              <a:srgbClr val="A9B6C2"/>
            </a:solidFill>
            <a:prstDash val="dash"/>
          </a:ln>
        </p:spPr>
      </p:cxnSp>
      <p:sp>
        <p:nvSpPr>
          <p:cNvPr id="12" name="Oval 11"/>
          <p:cNvSpPr/>
          <p:nvPr/>
        </p:nvSpPr>
        <p:spPr>
          <a:xfrm>
            <a:off x="9697760" y="3072932"/>
            <a:ext cx="136062" cy="136062"/>
          </a:xfrm>
          <a:prstGeom prst="ellipse">
            <a:avLst/>
          </a:prstGeom>
          <a:solidFill>
            <a:srgbClr val="FFFFFF"/>
          </a:solidFill>
          <a:ln>
            <a:noFill/>
          </a:ln>
        </p:spPr>
        <p:txBody>
          <a:bodyPr rtlCol="0" anchor="ctr"/>
          <a:lstStyle/>
          <a:p>
            <a:pPr algn="ctr"/>
          </a:p>
        </p:txBody>
      </p:sp>
      <p:sp>
        <p:nvSpPr>
          <p:cNvPr id="13" name="Oval 12"/>
          <p:cNvSpPr/>
          <p:nvPr/>
        </p:nvSpPr>
        <p:spPr>
          <a:xfrm>
            <a:off x="9697760" y="3767876"/>
            <a:ext cx="136062" cy="136062"/>
          </a:xfrm>
          <a:prstGeom prst="ellipse">
            <a:avLst/>
          </a:prstGeom>
          <a:solidFill>
            <a:srgbClr val="FFFFFF"/>
          </a:solidFill>
          <a:ln>
            <a:noFill/>
          </a:ln>
        </p:spPr>
        <p:txBody>
          <a:bodyPr rtlCol="0" anchor="ctr"/>
          <a:lstStyle/>
          <a:p>
            <a:pPr algn="ctr"/>
          </a:p>
        </p:txBody>
      </p:sp>
      <p:sp>
        <p:nvSpPr>
          <p:cNvPr id="14" name="Oval 13"/>
          <p:cNvSpPr/>
          <p:nvPr/>
        </p:nvSpPr>
        <p:spPr>
          <a:xfrm>
            <a:off x="9697760" y="4462820"/>
            <a:ext cx="136062" cy="136062"/>
          </a:xfrm>
          <a:prstGeom prst="ellipse">
            <a:avLst/>
          </a:prstGeom>
          <a:solidFill>
            <a:srgbClr val="FFFFFF"/>
          </a:solidFill>
          <a:ln>
            <a:noFill/>
          </a:ln>
        </p:spPr>
        <p:txBody>
          <a:bodyPr rtlCol="0" anchor="ctr"/>
          <a:lstStyle/>
          <a:p>
            <a:pPr algn="ctr"/>
          </a:p>
        </p:txBody>
      </p:sp>
      <p:sp>
        <p:nvSpPr>
          <p:cNvPr id="15" name="Oval 14"/>
          <p:cNvSpPr/>
          <p:nvPr/>
        </p:nvSpPr>
        <p:spPr>
          <a:xfrm>
            <a:off x="9697760" y="5157764"/>
            <a:ext cx="136062" cy="136062"/>
          </a:xfrm>
          <a:prstGeom prst="ellipse">
            <a:avLst/>
          </a:prstGeom>
          <a:solidFill>
            <a:srgbClr val="FFFFFF"/>
          </a:solidFill>
          <a:ln>
            <a:noFill/>
          </a:ln>
        </p:spPr>
        <p:txBody>
          <a:bodyPr rtlCol="0" anchor="ctr"/>
          <a:lstStyle/>
          <a:p>
            <a:pPr algn="ctr"/>
          </a:p>
        </p:txBody>
      </p:sp>
      <p:sp>
        <p:nvSpPr>
          <p:cNvPr id="16" name="Oval 15"/>
          <p:cNvSpPr/>
          <p:nvPr/>
        </p:nvSpPr>
        <p:spPr>
          <a:xfrm>
            <a:off x="9656063" y="2336292"/>
            <a:ext cx="219456" cy="219456"/>
          </a:xfrm>
          <a:prstGeom prst="ellipse">
            <a:avLst/>
          </a:prstGeom>
          <a:solidFill>
            <a:srgbClr val="F2B705"/>
          </a:solidFill>
          <a:ln>
            <a:noFill/>
          </a:ln>
        </p:spPr>
        <p:txBody>
          <a:bodyPr rtlCol="0" anchor="ctr"/>
          <a:lstStyle/>
          <a:p>
            <a:pPr algn="ctr"/>
          </a:p>
        </p:txBody>
      </p:sp>
      <p:sp>
        <p:nvSpPr>
          <p:cNvPr id="17" name="Oval 16"/>
          <p:cNvSpPr/>
          <p:nvPr/>
        </p:nvSpPr>
        <p:spPr>
          <a:xfrm>
            <a:off x="9656063" y="5811012"/>
            <a:ext cx="219456" cy="219456"/>
          </a:xfrm>
          <a:prstGeom prst="ellipse">
            <a:avLst/>
          </a:prstGeom>
          <a:noFill/>
          <a:ln w="29209">
            <a:solidFill>
              <a:srgbClr val="FFFFFF"/>
            </a:solidFill>
          </a:ln>
        </p:spPr>
        <p:txBody>
          <a:bodyPr rtlCol="0" anchor="ctr"/>
          <a:lstStyle/>
          <a:p>
            <a:pPr algn="ctr"/>
          </a:p>
        </p:txBody>
      </p:sp>
      <p:sp>
        <p:nvSpPr>
          <p:cNvPr id="18" name="TextBox 17"/>
          <p:cNvSpPr txBox="1"/>
          <p:nvPr/>
        </p:nvSpPr>
        <p:spPr>
          <a:xfrm>
            <a:off x="10067543" y="2263140"/>
            <a:ext cx="1438351" cy="365760"/>
          </a:xfrm>
          <a:prstGeom prst="rect">
            <a:avLst/>
          </a:prstGeom>
          <a:noFill/>
        </p:spPr>
        <p:txBody>
          <a:bodyPr wrap="square" lIns="0" rIns="0" tIns="0" bIns="0" anchor="ctr">
            <a:noAutofit/>
          </a:bodyPr>
          <a:lstStyle/>
          <a:p>
            <a:pPr algn="l"/>
            <a:r>
              <a:rPr sz="1700" b="0">
                <a:solidFill>
                  <a:srgbClr val="FFFFFF"/>
                </a:solidFill>
                <a:latin typeface="Arial"/>
              </a:rPr>
              <a:t>Listed</a:t>
            </a:r>
          </a:p>
        </p:txBody>
      </p:sp>
      <p:sp>
        <p:nvSpPr>
          <p:cNvPr id="19" name="TextBox 18"/>
          <p:cNvSpPr txBox="1"/>
          <p:nvPr/>
        </p:nvSpPr>
        <p:spPr>
          <a:xfrm>
            <a:off x="10067543" y="2958084"/>
            <a:ext cx="1438351" cy="365760"/>
          </a:xfrm>
          <a:prstGeom prst="rect">
            <a:avLst/>
          </a:prstGeom>
          <a:noFill/>
        </p:spPr>
        <p:txBody>
          <a:bodyPr wrap="square" lIns="0" rIns="0" tIns="0" bIns="0" anchor="ctr">
            <a:noAutofit/>
          </a:bodyPr>
          <a:lstStyle/>
          <a:p>
            <a:pPr algn="l"/>
            <a:r>
              <a:rPr sz="1700" b="0">
                <a:solidFill>
                  <a:srgbClr val="FFFFFF"/>
                </a:solidFill>
                <a:latin typeface="Arial"/>
              </a:rPr>
              <a:t>Funded</a:t>
            </a:r>
          </a:p>
        </p:txBody>
      </p:sp>
      <p:sp>
        <p:nvSpPr>
          <p:cNvPr id="20" name="TextBox 19"/>
          <p:cNvSpPr txBox="1"/>
          <p:nvPr/>
        </p:nvSpPr>
        <p:spPr>
          <a:xfrm>
            <a:off x="10067543" y="3653028"/>
            <a:ext cx="1438351" cy="365760"/>
          </a:xfrm>
          <a:prstGeom prst="rect">
            <a:avLst/>
          </a:prstGeom>
          <a:noFill/>
        </p:spPr>
        <p:txBody>
          <a:bodyPr wrap="square" lIns="0" rIns="0" tIns="0" bIns="0" anchor="ctr">
            <a:noAutofit/>
          </a:bodyPr>
          <a:lstStyle/>
          <a:p>
            <a:pPr algn="l"/>
            <a:r>
              <a:rPr sz="1700" b="0">
                <a:solidFill>
                  <a:srgbClr val="FFFFFF"/>
                </a:solidFill>
                <a:latin typeface="Arial"/>
              </a:rPr>
              <a:t>Paid out</a:t>
            </a:r>
          </a:p>
        </p:txBody>
      </p:sp>
      <p:sp>
        <p:nvSpPr>
          <p:cNvPr id="21" name="TextBox 20"/>
          <p:cNvSpPr txBox="1"/>
          <p:nvPr/>
        </p:nvSpPr>
        <p:spPr>
          <a:xfrm>
            <a:off x="10067543" y="4347972"/>
            <a:ext cx="1438351" cy="365760"/>
          </a:xfrm>
          <a:prstGeom prst="rect">
            <a:avLst/>
          </a:prstGeom>
          <a:noFill/>
        </p:spPr>
        <p:txBody>
          <a:bodyPr wrap="square" lIns="0" rIns="0" tIns="0" bIns="0" anchor="ctr">
            <a:noAutofit/>
          </a:bodyPr>
          <a:lstStyle/>
          <a:p>
            <a:pPr algn="l"/>
            <a:r>
              <a:rPr sz="1700" b="0">
                <a:solidFill>
                  <a:srgbClr val="FFFFFF"/>
                </a:solidFill>
                <a:latin typeface="Arial"/>
              </a:rPr>
              <a:t>Repaid</a:t>
            </a:r>
          </a:p>
        </p:txBody>
      </p:sp>
      <p:sp>
        <p:nvSpPr>
          <p:cNvPr id="22" name="TextBox 21"/>
          <p:cNvSpPr txBox="1"/>
          <p:nvPr/>
        </p:nvSpPr>
        <p:spPr>
          <a:xfrm>
            <a:off x="10067543" y="5042916"/>
            <a:ext cx="1438351" cy="365760"/>
          </a:xfrm>
          <a:prstGeom prst="rect">
            <a:avLst/>
          </a:prstGeom>
          <a:noFill/>
        </p:spPr>
        <p:txBody>
          <a:bodyPr wrap="square" lIns="0" rIns="0" tIns="0" bIns="0" anchor="ctr">
            <a:noAutofit/>
          </a:bodyPr>
          <a:lstStyle/>
          <a:p>
            <a:pPr algn="l"/>
            <a:r>
              <a:rPr sz="1700" b="0">
                <a:solidFill>
                  <a:srgbClr val="FFFFFF"/>
                </a:solidFill>
                <a:latin typeface="Arial"/>
              </a:rPr>
              <a:t>Paused</a:t>
            </a:r>
          </a:p>
        </p:txBody>
      </p:sp>
      <p:sp>
        <p:nvSpPr>
          <p:cNvPr id="23" name="TextBox 22"/>
          <p:cNvSpPr txBox="1"/>
          <p:nvPr/>
        </p:nvSpPr>
        <p:spPr>
          <a:xfrm>
            <a:off x="10067543" y="5737859"/>
            <a:ext cx="1438351" cy="365760"/>
          </a:xfrm>
          <a:prstGeom prst="rect">
            <a:avLst/>
          </a:prstGeom>
          <a:noFill/>
        </p:spPr>
        <p:txBody>
          <a:bodyPr wrap="square" lIns="0" rIns="0" tIns="0" bIns="0" anchor="ctr">
            <a:noAutofit/>
          </a:bodyPr>
          <a:lstStyle/>
          <a:p>
            <a:pPr algn="l"/>
            <a:r>
              <a:rPr sz="1700" b="0">
                <a:solidFill>
                  <a:srgbClr val="FFFFFF"/>
                </a:solidFill>
                <a:latin typeface="Arial"/>
              </a:rPr>
              <a:t>Late, frozen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868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endCondLst>
                    <p:cond evt="onStopAudio" delay="0">
                      <p:tgtEl>
                        <p:sldTgt/>
                      </p:tgtEl>
                    </p:cond>
                  </p:endCondLst>
                </p:cTn>
                <p:tgtEl>
                  <p:spTgt spid="3"/>
                </p:tgtEl>
              </p:cMediaNode>
            </p:video>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2F4F6"/>
        </a:solidFill>
        <a:effectLst/>
      </p:bgPr>
    </p:bg>
    <p:spTree>
      <p:nvGrpSpPr>
        <p:cNvPr id="1" name=""/>
        <p:cNvGrpSpPr/>
        <p:nvPr/>
      </p:nvGrpSpPr>
      <p:grpSpPr/>
      <p:sp>
        <p:nvSpPr>
          <p:cNvPr id="2" name="Title"/>
          <p:cNvSpPr txBox="1"/>
          <p:nvPr/>
        </p:nvSpPr>
        <p:spPr>
          <a:xfrm>
            <a:off x="685800" y="566928"/>
            <a:ext cx="10820095" cy="731520"/>
          </a:xfrm>
          <a:prstGeom prst="rect">
            <a:avLst/>
          </a:prstGeom>
          <a:noFill/>
        </p:spPr>
        <p:txBody>
          <a:bodyPr wrap="square" lIns="0" rIns="0" tIns="0" bIns="0" anchor="t">
            <a:noAutofit/>
          </a:bodyPr>
          <a:lstStyle/>
          <a:p>
            <a:pPr algn="l"/>
            <a:r>
              <a:rPr sz="4000" b="1">
                <a:solidFill>
                  <a:srgbClr val="14202B"/>
                </a:solidFill>
                <a:latin typeface="Arial"/>
              </a:rPr>
              <a:t>CRE makes every off-chain decision</a:t>
            </a:r>
          </a:p>
        </p:txBody>
      </p:sp>
      <p:cxnSp>
        <p:nvCxnSpPr>
          <p:cNvPr id="3" name="Connector 2"/>
          <p:cNvCxnSpPr/>
          <p:nvPr/>
        </p:nvCxnSpPr>
        <p:spPr>
          <a:xfrm>
            <a:off x="1298448" y="1783080"/>
            <a:ext cx="7918475" cy="0"/>
          </a:xfrm>
          <a:prstGeom prst="line">
            <a:avLst/>
          </a:prstGeom>
          <a:ln w="28575">
            <a:solidFill>
              <a:srgbClr val="3A4A59"/>
            </a:solidFill>
            <a:prstDash val="dash"/>
          </a:ln>
        </p:spPr>
      </p:cxnSp>
      <p:sp>
        <p:nvSpPr>
          <p:cNvPr id="4" name="Oval 3"/>
          <p:cNvSpPr/>
          <p:nvPr/>
        </p:nvSpPr>
        <p:spPr>
          <a:xfrm>
            <a:off x="3785844" y="1698040"/>
            <a:ext cx="170078" cy="170078"/>
          </a:xfrm>
          <a:prstGeom prst="ellipse">
            <a:avLst/>
          </a:prstGeom>
          <a:solidFill>
            <a:srgbClr val="14202B"/>
          </a:solidFill>
          <a:ln>
            <a:noFill/>
          </a:ln>
        </p:spPr>
        <p:txBody>
          <a:bodyPr rtlCol="0" anchor="ctr"/>
          <a:lstStyle/>
          <a:p>
            <a:pPr algn="ctr"/>
          </a:p>
        </p:txBody>
      </p:sp>
      <p:sp>
        <p:nvSpPr>
          <p:cNvPr id="5" name="Oval 4"/>
          <p:cNvSpPr/>
          <p:nvPr/>
        </p:nvSpPr>
        <p:spPr>
          <a:xfrm>
            <a:off x="6559448" y="1698040"/>
            <a:ext cx="170078" cy="170078"/>
          </a:xfrm>
          <a:prstGeom prst="ellipse">
            <a:avLst/>
          </a:prstGeom>
          <a:solidFill>
            <a:srgbClr val="14202B"/>
          </a:solidFill>
          <a:ln>
            <a:noFill/>
          </a:ln>
        </p:spPr>
        <p:txBody>
          <a:bodyPr rtlCol="0" anchor="ctr"/>
          <a:lstStyle/>
          <a:p>
            <a:pPr algn="ctr"/>
          </a:p>
        </p:txBody>
      </p:sp>
      <p:sp>
        <p:nvSpPr>
          <p:cNvPr id="6" name="Oval 5"/>
          <p:cNvSpPr/>
          <p:nvPr/>
        </p:nvSpPr>
        <p:spPr>
          <a:xfrm>
            <a:off x="960120" y="1645920"/>
            <a:ext cx="274320" cy="274320"/>
          </a:xfrm>
          <a:prstGeom prst="ellipse">
            <a:avLst/>
          </a:prstGeom>
          <a:solidFill>
            <a:srgbClr val="F2B705"/>
          </a:solidFill>
          <a:ln>
            <a:noFill/>
          </a:ln>
        </p:spPr>
        <p:txBody>
          <a:bodyPr rtlCol="0" anchor="ctr"/>
          <a:lstStyle/>
          <a:p>
            <a:pPr algn="ctr"/>
          </a:p>
        </p:txBody>
      </p:sp>
      <p:sp>
        <p:nvSpPr>
          <p:cNvPr id="7" name="Oval 6"/>
          <p:cNvSpPr/>
          <p:nvPr/>
        </p:nvSpPr>
        <p:spPr>
          <a:xfrm>
            <a:off x="9280931" y="1645920"/>
            <a:ext cx="274320" cy="274320"/>
          </a:xfrm>
          <a:prstGeom prst="ellipse">
            <a:avLst/>
          </a:prstGeom>
          <a:noFill/>
          <a:ln w="32861">
            <a:solidFill>
              <a:srgbClr val="14202B"/>
            </a:solidFill>
          </a:ln>
        </p:spPr>
        <p:txBody>
          <a:bodyPr rtlCol="0" anchor="ctr"/>
          <a:lstStyle/>
          <a:p>
            <a:pPr algn="ctr"/>
          </a:p>
        </p:txBody>
      </p:sp>
      <p:sp>
        <p:nvSpPr>
          <p:cNvPr id="8" name="listing card"/>
          <p:cNvSpPr/>
          <p:nvPr/>
        </p:nvSpPr>
        <p:spPr>
          <a:xfrm>
            <a:off x="685800" y="2194560"/>
            <a:ext cx="2499283" cy="3246120"/>
          </a:xfrm>
          <a:prstGeom prst="roundRect">
            <a:avLst>
              <a:gd name="adj" fmla="val 3658"/>
            </a:avLst>
          </a:prstGeom>
          <a:solidFill>
            <a:srgbClr val="FFFFFF"/>
          </a:solidFill>
          <a:ln w="12700">
            <a:solidFill>
              <a:srgbClr val="D9DFE5"/>
            </a:solidFill>
          </a:ln>
        </p:spPr>
        <p:txBody>
          <a:bodyPr rtlCol="0" anchor="ctr"/>
          <a:lstStyle/>
          <a:p>
            <a:pPr algn="ctr"/>
          </a:p>
        </p:txBody>
      </p:sp>
      <p:sp>
        <p:nvSpPr>
          <p:cNvPr id="9" name="TextBox 8"/>
          <p:cNvSpPr txBox="1"/>
          <p:nvPr/>
        </p:nvSpPr>
        <p:spPr>
          <a:xfrm>
            <a:off x="960120" y="2468879"/>
            <a:ext cx="1950643" cy="457200"/>
          </a:xfrm>
          <a:prstGeom prst="rect">
            <a:avLst/>
          </a:prstGeom>
          <a:noFill/>
        </p:spPr>
        <p:txBody>
          <a:bodyPr wrap="square" lIns="0" rIns="0" tIns="0" bIns="0" anchor="t">
            <a:noAutofit/>
          </a:bodyPr>
          <a:lstStyle/>
          <a:p>
            <a:pPr algn="l"/>
            <a:r>
              <a:rPr sz="2600" b="1">
                <a:solidFill>
                  <a:srgbClr val="14202B"/>
                </a:solidFill>
                <a:latin typeface="Arial"/>
              </a:rPr>
              <a:t>listing</a:t>
            </a:r>
          </a:p>
        </p:txBody>
      </p:sp>
      <p:sp>
        <p:nvSpPr>
          <p:cNvPr id="10" name="TextBox 9"/>
          <p:cNvSpPr txBox="1"/>
          <p:nvPr/>
        </p:nvSpPr>
        <p:spPr>
          <a:xfrm>
            <a:off x="960120" y="3017520"/>
            <a:ext cx="1950643" cy="731520"/>
          </a:xfrm>
          <a:prstGeom prst="rect">
            <a:avLst/>
          </a:prstGeom>
          <a:noFill/>
        </p:spPr>
        <p:txBody>
          <a:bodyPr wrap="square" lIns="0" rIns="0" tIns="0" bIns="0" anchor="t">
            <a:noAutofit/>
          </a:bodyPr>
          <a:lstStyle/>
          <a:p>
            <a:pPr algn="l"/>
            <a:r>
              <a:rPr sz="1300" b="0">
                <a:solidFill>
                  <a:srgbClr val="5B6A78"/>
                </a:solidFill>
                <a:latin typeface="Arial"/>
              </a:rPr>
              <a:t>HTTP trigger</a:t>
            </a:r>
          </a:p>
          <a:p>
            <a:pPr algn="l"/>
            <a:r>
              <a:rPr sz="1300" b="0">
                <a:solidFill>
                  <a:srgbClr val="5B6A78"/>
                </a:solidFill>
                <a:latin typeface="Arial"/>
              </a:rPr>
              <a:t>TEE handler</a:t>
            </a:r>
          </a:p>
          <a:p>
            <a:pPr algn="l"/>
            <a:r>
              <a:rPr sz="1300" b="0">
                <a:solidFill>
                  <a:srgbClr val="5B6A78"/>
                </a:solidFill>
                <a:latin typeface="Arial"/>
              </a:rPr>
              <a:t>Data Feed: EUR/USD</a:t>
            </a:r>
          </a:p>
        </p:txBody>
      </p:sp>
      <p:sp>
        <p:nvSpPr>
          <p:cNvPr id="11" name="TextBox 10"/>
          <p:cNvSpPr txBox="1"/>
          <p:nvPr/>
        </p:nvSpPr>
        <p:spPr>
          <a:xfrm>
            <a:off x="960120" y="3886200"/>
            <a:ext cx="1950643" cy="1463040"/>
          </a:xfrm>
          <a:prstGeom prst="rect">
            <a:avLst/>
          </a:prstGeom>
          <a:noFill/>
        </p:spPr>
        <p:txBody>
          <a:bodyPr wrap="square" lIns="0" rIns="0" tIns="0" bIns="0" anchor="t">
            <a:noAutofit/>
          </a:bodyPr>
          <a:lstStyle/>
          <a:p>
            <a:pPr algn="l">
              <a:lnSpc>
                <a:spcPct val="110000"/>
              </a:lnSpc>
            </a:pPr>
            <a:r>
              <a:rPr sz="1700" b="0">
                <a:solidFill>
                  <a:srgbClr val="3A4A59"/>
                </a:solidFill>
                <a:latin typeface="Arial"/>
              </a:rPr>
              <a:t>Is the document real, confirmed and creditworthy? Then list the loan.</a:t>
            </a:r>
          </a:p>
        </p:txBody>
      </p:sp>
      <p:sp>
        <p:nvSpPr>
          <p:cNvPr id="12" name="lender card"/>
          <p:cNvSpPr/>
          <p:nvPr/>
        </p:nvSpPr>
        <p:spPr>
          <a:xfrm>
            <a:off x="3459403" y="2194560"/>
            <a:ext cx="2499283" cy="3246120"/>
          </a:xfrm>
          <a:prstGeom prst="roundRect">
            <a:avLst>
              <a:gd name="adj" fmla="val 3658"/>
            </a:avLst>
          </a:prstGeom>
          <a:solidFill>
            <a:srgbClr val="FFFFFF"/>
          </a:solidFill>
          <a:ln w="12700">
            <a:solidFill>
              <a:srgbClr val="D9DFE5"/>
            </a:solidFill>
          </a:ln>
        </p:spPr>
        <p:txBody>
          <a:bodyPr rtlCol="0" anchor="ctr"/>
          <a:lstStyle/>
          <a:p>
            <a:pPr algn="ctr"/>
          </a:p>
        </p:txBody>
      </p:sp>
      <p:sp>
        <p:nvSpPr>
          <p:cNvPr id="13" name="TextBox 12"/>
          <p:cNvSpPr txBox="1"/>
          <p:nvPr/>
        </p:nvSpPr>
        <p:spPr>
          <a:xfrm>
            <a:off x="3733723" y="2468879"/>
            <a:ext cx="1950643" cy="457200"/>
          </a:xfrm>
          <a:prstGeom prst="rect">
            <a:avLst/>
          </a:prstGeom>
          <a:noFill/>
        </p:spPr>
        <p:txBody>
          <a:bodyPr wrap="square" lIns="0" rIns="0" tIns="0" bIns="0" anchor="t">
            <a:noAutofit/>
          </a:bodyPr>
          <a:lstStyle/>
          <a:p>
            <a:pPr algn="l"/>
            <a:r>
              <a:rPr sz="2600" b="1">
                <a:solidFill>
                  <a:srgbClr val="14202B"/>
                </a:solidFill>
                <a:latin typeface="Arial"/>
              </a:rPr>
              <a:t>lender</a:t>
            </a:r>
          </a:p>
        </p:txBody>
      </p:sp>
      <p:sp>
        <p:nvSpPr>
          <p:cNvPr id="14" name="TextBox 13"/>
          <p:cNvSpPr txBox="1"/>
          <p:nvPr/>
        </p:nvSpPr>
        <p:spPr>
          <a:xfrm>
            <a:off x="3733723" y="3017520"/>
            <a:ext cx="1950643" cy="731520"/>
          </a:xfrm>
          <a:prstGeom prst="rect">
            <a:avLst/>
          </a:prstGeom>
          <a:noFill/>
        </p:spPr>
        <p:txBody>
          <a:bodyPr wrap="square" lIns="0" rIns="0" tIns="0" bIns="0" anchor="t">
            <a:noAutofit/>
          </a:bodyPr>
          <a:lstStyle/>
          <a:p>
            <a:pPr algn="l"/>
            <a:r>
              <a:rPr sz="1300" b="0">
                <a:solidFill>
                  <a:srgbClr val="5B6A78"/>
                </a:solidFill>
                <a:latin typeface="Arial"/>
              </a:rPr>
              <a:t>HTTP trigger</a:t>
            </a:r>
          </a:p>
          <a:p>
            <a:pPr algn="l"/>
            <a:r>
              <a:rPr sz="1300" b="0">
                <a:solidFill>
                  <a:srgbClr val="5B6A78"/>
                </a:solidFill>
                <a:latin typeface="Arial"/>
              </a:rPr>
              <a:t>Confidential HTTP</a:t>
            </a:r>
          </a:p>
          <a:p>
            <a:pPr algn="l"/>
            <a:r>
              <a:rPr sz="1300" b="0">
                <a:solidFill>
                  <a:srgbClr val="5B6A78"/>
                </a:solidFill>
                <a:latin typeface="Arial"/>
              </a:rPr>
              <a:t>Data Feed, 1% FX check</a:t>
            </a:r>
          </a:p>
        </p:txBody>
      </p:sp>
      <p:sp>
        <p:nvSpPr>
          <p:cNvPr id="15" name="TextBox 14"/>
          <p:cNvSpPr txBox="1"/>
          <p:nvPr/>
        </p:nvSpPr>
        <p:spPr>
          <a:xfrm>
            <a:off x="3733723" y="3886200"/>
            <a:ext cx="1950643" cy="1463040"/>
          </a:xfrm>
          <a:prstGeom prst="rect">
            <a:avLst/>
          </a:prstGeom>
          <a:noFill/>
        </p:spPr>
        <p:txBody>
          <a:bodyPr wrap="square" lIns="0" rIns="0" tIns="0" bIns="0" anchor="t">
            <a:noAutofit/>
          </a:bodyPr>
          <a:lstStyle/>
          <a:p>
            <a:pPr algn="l">
              <a:lnSpc>
                <a:spcPct val="110000"/>
              </a:lnSpc>
            </a:pPr>
            <a:r>
              <a:rPr sz="1700" b="0">
                <a:solidFill>
                  <a:srgbClr val="3A4A59"/>
                </a:solidFill>
                <a:latin typeface="Arial"/>
              </a:rPr>
              <a:t>Is the lender verified? Did the bank deposit really arrive?</a:t>
            </a:r>
          </a:p>
        </p:txBody>
      </p:sp>
      <p:sp>
        <p:nvSpPr>
          <p:cNvPr id="16" name="settlement card"/>
          <p:cNvSpPr/>
          <p:nvPr/>
        </p:nvSpPr>
        <p:spPr>
          <a:xfrm>
            <a:off x="6233007" y="2194560"/>
            <a:ext cx="2499283" cy="3246120"/>
          </a:xfrm>
          <a:prstGeom prst="roundRect">
            <a:avLst>
              <a:gd name="adj" fmla="val 3658"/>
            </a:avLst>
          </a:prstGeom>
          <a:solidFill>
            <a:srgbClr val="FFFFFF"/>
          </a:solidFill>
          <a:ln w="12700">
            <a:solidFill>
              <a:srgbClr val="D9DFE5"/>
            </a:solidFill>
          </a:ln>
        </p:spPr>
        <p:txBody>
          <a:bodyPr rtlCol="0" anchor="ctr"/>
          <a:lstStyle/>
          <a:p>
            <a:pPr algn="ctr"/>
          </a:p>
        </p:txBody>
      </p:sp>
      <p:sp>
        <p:nvSpPr>
          <p:cNvPr id="17" name="TextBox 16"/>
          <p:cNvSpPr txBox="1"/>
          <p:nvPr/>
        </p:nvSpPr>
        <p:spPr>
          <a:xfrm>
            <a:off x="6507327" y="2468879"/>
            <a:ext cx="1950643" cy="457200"/>
          </a:xfrm>
          <a:prstGeom prst="rect">
            <a:avLst/>
          </a:prstGeom>
          <a:noFill/>
        </p:spPr>
        <p:txBody>
          <a:bodyPr wrap="square" lIns="0" rIns="0" tIns="0" bIns="0" anchor="t">
            <a:noAutofit/>
          </a:bodyPr>
          <a:lstStyle/>
          <a:p>
            <a:pPr algn="l"/>
            <a:r>
              <a:rPr sz="2600" b="1">
                <a:solidFill>
                  <a:srgbClr val="14202B"/>
                </a:solidFill>
                <a:latin typeface="Arial"/>
              </a:rPr>
              <a:t>settlement</a:t>
            </a:r>
          </a:p>
        </p:txBody>
      </p:sp>
      <p:sp>
        <p:nvSpPr>
          <p:cNvPr id="18" name="TextBox 17"/>
          <p:cNvSpPr txBox="1"/>
          <p:nvPr/>
        </p:nvSpPr>
        <p:spPr>
          <a:xfrm>
            <a:off x="6507327" y="3017520"/>
            <a:ext cx="1950643" cy="731520"/>
          </a:xfrm>
          <a:prstGeom prst="rect">
            <a:avLst/>
          </a:prstGeom>
          <a:noFill/>
        </p:spPr>
        <p:txBody>
          <a:bodyPr wrap="square" lIns="0" rIns="0" tIns="0" bIns="0" anchor="t">
            <a:noAutofit/>
          </a:bodyPr>
          <a:lstStyle/>
          <a:p>
            <a:pPr algn="l"/>
            <a:r>
              <a:rPr sz="1300" b="0">
                <a:solidFill>
                  <a:srgbClr val="5B6A78"/>
                </a:solidFill>
                <a:latin typeface="Arial"/>
              </a:rPr>
              <a:t>Log + HTTP triggers</a:t>
            </a:r>
          </a:p>
          <a:p>
            <a:pPr algn="l"/>
            <a:r>
              <a:rPr sz="1300" b="0">
                <a:solidFill>
                  <a:srgbClr val="5B6A78"/>
                </a:solidFill>
                <a:latin typeface="Arial"/>
              </a:rPr>
              <a:t>Two-source consensus</a:t>
            </a:r>
          </a:p>
        </p:txBody>
      </p:sp>
      <p:sp>
        <p:nvSpPr>
          <p:cNvPr id="19" name="TextBox 18"/>
          <p:cNvSpPr txBox="1"/>
          <p:nvPr/>
        </p:nvSpPr>
        <p:spPr>
          <a:xfrm>
            <a:off x="6507327" y="3886200"/>
            <a:ext cx="1950643" cy="1463040"/>
          </a:xfrm>
          <a:prstGeom prst="rect">
            <a:avLst/>
          </a:prstGeom>
          <a:noFill/>
        </p:spPr>
        <p:txBody>
          <a:bodyPr wrap="square" lIns="0" rIns="0" tIns="0" bIns="0" anchor="t">
            <a:noAutofit/>
          </a:bodyPr>
          <a:lstStyle/>
          <a:p>
            <a:pPr algn="l">
              <a:lnSpc>
                <a:spcPct val="110000"/>
              </a:lnSpc>
            </a:pPr>
            <a:r>
              <a:rPr sz="1700" b="0">
                <a:solidFill>
                  <a:srgbClr val="3A4A59"/>
                </a:solidFill>
                <a:latin typeface="Arial"/>
              </a:rPr>
              <a:t>Pay the business once funded. Repaid only when two sources agree.</a:t>
            </a:r>
          </a:p>
        </p:txBody>
      </p:sp>
      <p:sp>
        <p:nvSpPr>
          <p:cNvPr id="20" name="monitor card"/>
          <p:cNvSpPr/>
          <p:nvPr/>
        </p:nvSpPr>
        <p:spPr>
          <a:xfrm>
            <a:off x="9006611" y="2194560"/>
            <a:ext cx="2499283" cy="3246120"/>
          </a:xfrm>
          <a:prstGeom prst="roundRect">
            <a:avLst>
              <a:gd name="adj" fmla="val 3658"/>
            </a:avLst>
          </a:prstGeom>
          <a:solidFill>
            <a:srgbClr val="FFFFFF"/>
          </a:solidFill>
          <a:ln w="12700">
            <a:solidFill>
              <a:srgbClr val="D9DFE5"/>
            </a:solidFill>
          </a:ln>
        </p:spPr>
        <p:txBody>
          <a:bodyPr rtlCol="0" anchor="ctr"/>
          <a:lstStyle/>
          <a:p>
            <a:pPr algn="ctr"/>
          </a:p>
        </p:txBody>
      </p:sp>
      <p:sp>
        <p:nvSpPr>
          <p:cNvPr id="21" name="TextBox 20"/>
          <p:cNvSpPr txBox="1"/>
          <p:nvPr/>
        </p:nvSpPr>
        <p:spPr>
          <a:xfrm>
            <a:off x="9280931" y="2468879"/>
            <a:ext cx="1950643" cy="457200"/>
          </a:xfrm>
          <a:prstGeom prst="rect">
            <a:avLst/>
          </a:prstGeom>
          <a:noFill/>
        </p:spPr>
        <p:txBody>
          <a:bodyPr wrap="square" lIns="0" rIns="0" tIns="0" bIns="0" anchor="t">
            <a:noAutofit/>
          </a:bodyPr>
          <a:lstStyle/>
          <a:p>
            <a:pPr algn="l"/>
            <a:r>
              <a:rPr sz="2600" b="1">
                <a:solidFill>
                  <a:srgbClr val="14202B"/>
                </a:solidFill>
                <a:latin typeface="Arial"/>
              </a:rPr>
              <a:t>monitor</a:t>
            </a:r>
          </a:p>
        </p:txBody>
      </p:sp>
      <p:sp>
        <p:nvSpPr>
          <p:cNvPr id="22" name="TextBox 21"/>
          <p:cNvSpPr txBox="1"/>
          <p:nvPr/>
        </p:nvSpPr>
        <p:spPr>
          <a:xfrm>
            <a:off x="9280931" y="3017520"/>
            <a:ext cx="1950643" cy="731520"/>
          </a:xfrm>
          <a:prstGeom prst="rect">
            <a:avLst/>
          </a:prstGeom>
          <a:noFill/>
        </p:spPr>
        <p:txBody>
          <a:bodyPr wrap="square" lIns="0" rIns="0" tIns="0" bIns="0" anchor="t">
            <a:noAutofit/>
          </a:bodyPr>
          <a:lstStyle/>
          <a:p>
            <a:pPr algn="l"/>
            <a:r>
              <a:rPr sz="1300" b="0">
                <a:solidFill>
                  <a:srgbClr val="5B6A78"/>
                </a:solidFill>
                <a:latin typeface="Arial"/>
              </a:rPr>
              <a:t>Cron trigger</a:t>
            </a:r>
          </a:p>
          <a:p>
            <a:pPr algn="l"/>
            <a:r>
              <a:rPr sz="1300" b="0">
                <a:solidFill>
                  <a:srgbClr val="5B6A78"/>
                </a:solidFill>
                <a:latin typeface="Arial"/>
              </a:rPr>
              <a:t>Circuit breaker</a:t>
            </a:r>
          </a:p>
        </p:txBody>
      </p:sp>
      <p:sp>
        <p:nvSpPr>
          <p:cNvPr id="23" name="TextBox 22"/>
          <p:cNvSpPr txBox="1"/>
          <p:nvPr/>
        </p:nvSpPr>
        <p:spPr>
          <a:xfrm>
            <a:off x="9280931" y="3886200"/>
            <a:ext cx="1950643" cy="1463040"/>
          </a:xfrm>
          <a:prstGeom prst="rect">
            <a:avLst/>
          </a:prstGeom>
          <a:noFill/>
        </p:spPr>
        <p:txBody>
          <a:bodyPr wrap="square" lIns="0" rIns="0" tIns="0" bIns="0" anchor="t">
            <a:noAutofit/>
          </a:bodyPr>
          <a:lstStyle/>
          <a:p>
            <a:pPr algn="l">
              <a:lnSpc>
                <a:spcPct val="110000"/>
              </a:lnSpc>
            </a:pPr>
            <a:r>
              <a:rPr sz="1700" b="0">
                <a:solidFill>
                  <a:srgbClr val="3A4A59"/>
                </a:solidFill>
                <a:latin typeface="Arial"/>
              </a:rPr>
              <a:t>Late loan? Books out of balance? Freeze the business or pause funding.</a:t>
            </a:r>
          </a:p>
        </p:txBody>
      </p:sp>
      <p:sp>
        <p:nvSpPr>
          <p:cNvPr id="24" name="TextBox 23"/>
          <p:cNvSpPr txBox="1"/>
          <p:nvPr/>
        </p:nvSpPr>
        <p:spPr>
          <a:xfrm>
            <a:off x="685800" y="5715000"/>
            <a:ext cx="10820095" cy="411480"/>
          </a:xfrm>
          <a:prstGeom prst="rect">
            <a:avLst/>
          </a:prstGeom>
          <a:noFill/>
        </p:spPr>
        <p:txBody>
          <a:bodyPr wrap="square" lIns="0" rIns="0" tIns="0" bIns="0" anchor="t">
            <a:noAutofit/>
          </a:bodyPr>
          <a:lstStyle/>
          <a:p>
            <a:pPr algn="l"/>
            <a:r>
              <a:rPr sz="1800" b="0">
                <a:solidFill>
                  <a:srgbClr val="3A4A59"/>
                </a:solidFill>
                <a:latin typeface="Arial"/>
              </a:rPr>
              <a:t>Each run writes a signed report onchain through the Chainlink CRE forwarder.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2F4F6"/>
        </a:solidFill>
        <a:effectLst/>
      </p:bgPr>
    </p:bg>
    <p:spTree>
      <p:nvGrpSpPr>
        <p:cNvPr id="1" name=""/>
        <p:cNvGrpSpPr/>
        <p:nvPr/>
      </p:nvGrpSpPr>
      <p:grpSpPr/>
      <p:sp>
        <p:nvSpPr>
          <p:cNvPr id="2" name="Title"/>
          <p:cNvSpPr txBox="1"/>
          <p:nvPr/>
        </p:nvSpPr>
        <p:spPr>
          <a:xfrm>
            <a:off x="685800" y="566928"/>
            <a:ext cx="10820095" cy="731520"/>
          </a:xfrm>
          <a:prstGeom prst="rect">
            <a:avLst/>
          </a:prstGeom>
          <a:noFill/>
        </p:spPr>
        <p:txBody>
          <a:bodyPr wrap="square" lIns="0" rIns="0" tIns="0" bIns="0" anchor="t">
            <a:noAutofit/>
          </a:bodyPr>
          <a:lstStyle/>
          <a:p>
            <a:pPr algn="l"/>
            <a:r>
              <a:rPr sz="4000" b="1">
                <a:solidFill>
                  <a:srgbClr val="14202B"/>
                </a:solidFill>
                <a:latin typeface="Arial"/>
              </a:rPr>
              <a:t>Confidential by design</a:t>
            </a:r>
          </a:p>
        </p:txBody>
      </p:sp>
      <p:sp>
        <p:nvSpPr>
          <p:cNvPr id="3" name="Enclave"/>
          <p:cNvSpPr/>
          <p:nvPr/>
        </p:nvSpPr>
        <p:spPr>
          <a:xfrm>
            <a:off x="685800" y="1508760"/>
            <a:ext cx="5486400" cy="2011680"/>
          </a:xfrm>
          <a:prstGeom prst="roundRect">
            <a:avLst>
              <a:gd name="adj" fmla="val 5454"/>
            </a:avLst>
          </a:prstGeom>
          <a:solidFill>
            <a:srgbClr val="14202B"/>
          </a:solidFill>
          <a:ln>
            <a:noFill/>
          </a:ln>
        </p:spPr>
        <p:txBody>
          <a:bodyPr rtlCol="0" anchor="ctr"/>
          <a:lstStyle/>
          <a:p>
            <a:pPr algn="ctr"/>
          </a:p>
        </p:txBody>
      </p:sp>
      <p:sp>
        <p:nvSpPr>
          <p:cNvPr id="4" name="TextBox 3"/>
          <p:cNvSpPr txBox="1"/>
          <p:nvPr/>
        </p:nvSpPr>
        <p:spPr>
          <a:xfrm>
            <a:off x="978408" y="1737360"/>
            <a:ext cx="4937760" cy="411480"/>
          </a:xfrm>
          <a:prstGeom prst="rect">
            <a:avLst/>
          </a:prstGeom>
          <a:noFill/>
        </p:spPr>
        <p:txBody>
          <a:bodyPr wrap="square" lIns="0" rIns="0" tIns="0" bIns="0" anchor="t">
            <a:noAutofit/>
          </a:bodyPr>
          <a:lstStyle/>
          <a:p>
            <a:pPr algn="l"/>
            <a:r>
              <a:rPr sz="2200" b="1">
                <a:solidFill>
                  <a:srgbClr val="FFFFFF"/>
                </a:solidFill>
                <a:latin typeface="Arial"/>
              </a:rPr>
              <a:t>Stays in the enclave</a:t>
            </a:r>
          </a:p>
        </p:txBody>
      </p:sp>
      <p:sp>
        <p:nvSpPr>
          <p:cNvPr id="5" name="TextBox 4"/>
          <p:cNvSpPr txBox="1"/>
          <p:nvPr/>
        </p:nvSpPr>
        <p:spPr>
          <a:xfrm>
            <a:off x="978408" y="2148839"/>
            <a:ext cx="4937760" cy="320040"/>
          </a:xfrm>
          <a:prstGeom prst="rect">
            <a:avLst/>
          </a:prstGeom>
          <a:noFill/>
        </p:spPr>
        <p:txBody>
          <a:bodyPr wrap="square" lIns="0" rIns="0" tIns="0" bIns="0" anchor="t">
            <a:noAutofit/>
          </a:bodyPr>
          <a:lstStyle/>
          <a:p>
            <a:pPr algn="l"/>
            <a:r>
              <a:rPr sz="1400" b="0">
                <a:solidFill>
                  <a:srgbClr val="A9B6C2"/>
                </a:solidFill>
                <a:latin typeface="Arial"/>
              </a:rPr>
              <a:t>AWS Nitro on a deployed DON, declared with handlerInTee</a:t>
            </a:r>
          </a:p>
        </p:txBody>
      </p:sp>
      <p:sp>
        <p:nvSpPr>
          <p:cNvPr id="6" name="Oval 5"/>
          <p:cNvSpPr/>
          <p:nvPr/>
        </p:nvSpPr>
        <p:spPr>
          <a:xfrm>
            <a:off x="996695" y="2651760"/>
            <a:ext cx="109728" cy="109728"/>
          </a:xfrm>
          <a:prstGeom prst="ellipse">
            <a:avLst/>
          </a:prstGeom>
          <a:solidFill>
            <a:srgbClr val="F2B705"/>
          </a:solidFill>
          <a:ln>
            <a:noFill/>
          </a:ln>
        </p:spPr>
        <p:txBody>
          <a:bodyPr rtlCol="0" anchor="ctr"/>
          <a:lstStyle/>
          <a:p>
            <a:pPr algn="ctr"/>
          </a:p>
        </p:txBody>
      </p:sp>
      <p:sp>
        <p:nvSpPr>
          <p:cNvPr id="7" name="TextBox 6"/>
          <p:cNvSpPr txBox="1"/>
          <p:nvPr/>
        </p:nvSpPr>
        <p:spPr>
          <a:xfrm>
            <a:off x="1234440" y="2578608"/>
            <a:ext cx="4663440" cy="274320"/>
          </a:xfrm>
          <a:prstGeom prst="rect">
            <a:avLst/>
          </a:prstGeom>
          <a:noFill/>
        </p:spPr>
        <p:txBody>
          <a:bodyPr wrap="square" lIns="0" rIns="0" tIns="0" bIns="0" anchor="t">
            <a:noAutofit/>
          </a:bodyPr>
          <a:lstStyle/>
          <a:p>
            <a:pPr algn="l"/>
            <a:r>
              <a:rPr sz="1700" b="0">
                <a:solidFill>
                  <a:srgbClr val="FFFFFF"/>
                </a:solidFill>
                <a:latin typeface="Arial"/>
              </a:rPr>
              <a:t>Revenue and open debts</a:t>
            </a:r>
          </a:p>
        </p:txBody>
      </p:sp>
      <p:sp>
        <p:nvSpPr>
          <p:cNvPr id="8" name="Oval 7"/>
          <p:cNvSpPr/>
          <p:nvPr/>
        </p:nvSpPr>
        <p:spPr>
          <a:xfrm>
            <a:off x="996695" y="2944368"/>
            <a:ext cx="109728" cy="109728"/>
          </a:xfrm>
          <a:prstGeom prst="ellipse">
            <a:avLst/>
          </a:prstGeom>
          <a:solidFill>
            <a:srgbClr val="F2B705"/>
          </a:solidFill>
          <a:ln>
            <a:noFill/>
          </a:ln>
        </p:spPr>
        <p:txBody>
          <a:bodyPr rtlCol="0" anchor="ctr"/>
          <a:lstStyle/>
          <a:p>
            <a:pPr algn="ctr"/>
          </a:p>
        </p:txBody>
      </p:sp>
      <p:sp>
        <p:nvSpPr>
          <p:cNvPr id="9" name="TextBox 8"/>
          <p:cNvSpPr txBox="1"/>
          <p:nvPr/>
        </p:nvSpPr>
        <p:spPr>
          <a:xfrm>
            <a:off x="1234440" y="2871215"/>
            <a:ext cx="4663440" cy="274320"/>
          </a:xfrm>
          <a:prstGeom prst="rect">
            <a:avLst/>
          </a:prstGeom>
          <a:noFill/>
        </p:spPr>
        <p:txBody>
          <a:bodyPr wrap="square" lIns="0" rIns="0" tIns="0" bIns="0" anchor="t">
            <a:noAutofit/>
          </a:bodyPr>
          <a:lstStyle/>
          <a:p>
            <a:pPr algn="l"/>
            <a:r>
              <a:rPr sz="1700" b="0">
                <a:solidFill>
                  <a:srgbClr val="FFFFFF"/>
                </a:solidFill>
                <a:latin typeface="Arial"/>
              </a:rPr>
              <a:t>Payment history</a:t>
            </a:r>
          </a:p>
        </p:txBody>
      </p:sp>
      <p:sp>
        <p:nvSpPr>
          <p:cNvPr id="10" name="Oval 9"/>
          <p:cNvSpPr/>
          <p:nvPr/>
        </p:nvSpPr>
        <p:spPr>
          <a:xfrm>
            <a:off x="996695" y="3236976"/>
            <a:ext cx="109728" cy="109728"/>
          </a:xfrm>
          <a:prstGeom prst="ellipse">
            <a:avLst/>
          </a:prstGeom>
          <a:solidFill>
            <a:srgbClr val="F2B705"/>
          </a:solidFill>
          <a:ln>
            <a:noFill/>
          </a:ln>
        </p:spPr>
        <p:txBody>
          <a:bodyPr rtlCol="0" anchor="ctr"/>
          <a:lstStyle/>
          <a:p>
            <a:pPr algn="ctr"/>
          </a:p>
        </p:txBody>
      </p:sp>
      <p:sp>
        <p:nvSpPr>
          <p:cNvPr id="11" name="TextBox 10"/>
          <p:cNvSpPr txBox="1"/>
          <p:nvPr/>
        </p:nvSpPr>
        <p:spPr>
          <a:xfrm>
            <a:off x="1234440" y="3163824"/>
            <a:ext cx="4663440" cy="274320"/>
          </a:xfrm>
          <a:prstGeom prst="rect">
            <a:avLst/>
          </a:prstGeom>
          <a:noFill/>
        </p:spPr>
        <p:txBody>
          <a:bodyPr wrap="square" lIns="0" rIns="0" tIns="0" bIns="0" anchor="t">
            <a:noAutofit/>
          </a:bodyPr>
          <a:lstStyle/>
          <a:p>
            <a:pPr algn="l"/>
            <a:r>
              <a:rPr sz="1700" b="0">
                <a:solidFill>
                  <a:srgbClr val="FFFFFF"/>
                </a:solidFill>
                <a:latin typeface="Arial"/>
              </a:rPr>
              <a:t>Sanctions screen</a:t>
            </a:r>
          </a:p>
        </p:txBody>
      </p:sp>
      <p:cxnSp>
        <p:nvCxnSpPr>
          <p:cNvPr id="12" name="Connector 11"/>
          <p:cNvCxnSpPr/>
          <p:nvPr/>
        </p:nvCxnSpPr>
        <p:spPr>
          <a:xfrm>
            <a:off x="6629400" y="2514600"/>
            <a:ext cx="365760" cy="0"/>
          </a:xfrm>
          <a:prstGeom prst="line">
            <a:avLst/>
          </a:prstGeom>
          <a:ln w="28575">
            <a:solidFill>
              <a:srgbClr val="3A4A59"/>
            </a:solidFill>
            <a:prstDash val="dash"/>
          </a:ln>
        </p:spPr>
      </p:cxnSp>
      <p:sp>
        <p:nvSpPr>
          <p:cNvPr id="13" name="Oval 12"/>
          <p:cNvSpPr/>
          <p:nvPr/>
        </p:nvSpPr>
        <p:spPr>
          <a:xfrm>
            <a:off x="6327648" y="2395728"/>
            <a:ext cx="237744" cy="237744"/>
          </a:xfrm>
          <a:prstGeom prst="ellipse">
            <a:avLst/>
          </a:prstGeom>
          <a:solidFill>
            <a:srgbClr val="F2B705"/>
          </a:solidFill>
          <a:ln>
            <a:noFill/>
          </a:ln>
        </p:spPr>
        <p:txBody>
          <a:bodyPr rtlCol="0" anchor="ctr"/>
          <a:lstStyle/>
          <a:p>
            <a:pPr algn="ctr"/>
          </a:p>
        </p:txBody>
      </p:sp>
      <p:sp>
        <p:nvSpPr>
          <p:cNvPr id="14" name="Oval 13"/>
          <p:cNvSpPr/>
          <p:nvPr/>
        </p:nvSpPr>
        <p:spPr>
          <a:xfrm>
            <a:off x="7059168" y="2395728"/>
            <a:ext cx="237744" cy="237744"/>
          </a:xfrm>
          <a:prstGeom prst="ellipse">
            <a:avLst/>
          </a:prstGeom>
          <a:noFill/>
          <a:ln w="32861">
            <a:solidFill>
              <a:srgbClr val="14202B"/>
            </a:solidFill>
          </a:ln>
        </p:spPr>
        <p:txBody>
          <a:bodyPr rtlCol="0" anchor="ctr"/>
          <a:lstStyle/>
          <a:p>
            <a:pPr algn="ctr"/>
          </a:p>
        </p:txBody>
      </p:sp>
      <p:sp>
        <p:nvSpPr>
          <p:cNvPr id="15" name="Leaves"/>
          <p:cNvSpPr/>
          <p:nvPr/>
        </p:nvSpPr>
        <p:spPr>
          <a:xfrm>
            <a:off x="7452360" y="1508760"/>
            <a:ext cx="4053535" cy="2011680"/>
          </a:xfrm>
          <a:prstGeom prst="roundRect">
            <a:avLst>
              <a:gd name="adj" fmla="val 5454"/>
            </a:avLst>
          </a:prstGeom>
          <a:solidFill>
            <a:srgbClr val="FFFFFF"/>
          </a:solidFill>
          <a:ln w="12700">
            <a:solidFill>
              <a:srgbClr val="D9DFE5"/>
            </a:solidFill>
          </a:ln>
        </p:spPr>
        <p:txBody>
          <a:bodyPr rtlCol="0" anchor="ctr"/>
          <a:lstStyle/>
          <a:p>
            <a:pPr algn="ctr"/>
          </a:p>
        </p:txBody>
      </p:sp>
      <p:sp>
        <p:nvSpPr>
          <p:cNvPr id="16" name="TextBox 15"/>
          <p:cNvSpPr txBox="1"/>
          <p:nvPr/>
        </p:nvSpPr>
        <p:spPr>
          <a:xfrm>
            <a:off x="7744968" y="1737360"/>
            <a:ext cx="3504895" cy="411480"/>
          </a:xfrm>
          <a:prstGeom prst="rect">
            <a:avLst/>
          </a:prstGeom>
          <a:noFill/>
        </p:spPr>
        <p:txBody>
          <a:bodyPr wrap="square" lIns="0" rIns="0" tIns="0" bIns="0" anchor="t">
            <a:noAutofit/>
          </a:bodyPr>
          <a:lstStyle/>
          <a:p>
            <a:pPr algn="l"/>
            <a:r>
              <a:rPr sz="2200" b="1">
                <a:solidFill>
                  <a:srgbClr val="14202B"/>
                </a:solidFill>
                <a:latin typeface="Arial"/>
              </a:rPr>
              <a:t>Only the verdict leaves</a:t>
            </a:r>
          </a:p>
        </p:txBody>
      </p:sp>
      <p:sp>
        <p:nvSpPr>
          <p:cNvPr id="17" name="TextBox 16"/>
          <p:cNvSpPr txBox="1"/>
          <p:nvPr/>
        </p:nvSpPr>
        <p:spPr>
          <a:xfrm>
            <a:off x="7744968" y="2148839"/>
            <a:ext cx="3504895" cy="320040"/>
          </a:xfrm>
          <a:prstGeom prst="rect">
            <a:avLst/>
          </a:prstGeom>
          <a:noFill/>
        </p:spPr>
        <p:txBody>
          <a:bodyPr wrap="square" lIns="0" rIns="0" tIns="0" bIns="0" anchor="t">
            <a:noAutofit/>
          </a:bodyPr>
          <a:lstStyle/>
          <a:p>
            <a:pPr algn="l"/>
            <a:r>
              <a:rPr sz="1400" b="0">
                <a:solidFill>
                  <a:srgbClr val="5B6A78"/>
                </a:solidFill>
                <a:latin typeface="Arial"/>
              </a:rPr>
              <a:t>Written onchain with the document's terms</a:t>
            </a:r>
          </a:p>
        </p:txBody>
      </p:sp>
      <p:sp>
        <p:nvSpPr>
          <p:cNvPr id="18" name="Oval 17"/>
          <p:cNvSpPr/>
          <p:nvPr/>
        </p:nvSpPr>
        <p:spPr>
          <a:xfrm>
            <a:off x="7758684" y="2647188"/>
            <a:ext cx="118872" cy="118872"/>
          </a:xfrm>
          <a:prstGeom prst="ellipse">
            <a:avLst/>
          </a:prstGeom>
          <a:noFill/>
          <a:ln w="22225">
            <a:solidFill>
              <a:srgbClr val="14202B"/>
            </a:solidFill>
          </a:ln>
        </p:spPr>
        <p:txBody>
          <a:bodyPr rtlCol="0" anchor="ctr"/>
          <a:lstStyle/>
          <a:p>
            <a:pPr algn="ctr"/>
          </a:p>
        </p:txBody>
      </p:sp>
      <p:sp>
        <p:nvSpPr>
          <p:cNvPr id="19" name="TextBox 18"/>
          <p:cNvSpPr txBox="1"/>
          <p:nvPr/>
        </p:nvSpPr>
        <p:spPr>
          <a:xfrm>
            <a:off x="8001000" y="2578608"/>
            <a:ext cx="3230575" cy="274320"/>
          </a:xfrm>
          <a:prstGeom prst="rect">
            <a:avLst/>
          </a:prstGeom>
          <a:noFill/>
        </p:spPr>
        <p:txBody>
          <a:bodyPr wrap="square" lIns="0" rIns="0" tIns="0" bIns="0" anchor="t">
            <a:noAutofit/>
          </a:bodyPr>
          <a:lstStyle/>
          <a:p>
            <a:pPr algn="l"/>
            <a:r>
              <a:rPr sz="1700" b="0">
                <a:solidFill>
                  <a:srgbClr val="3A4A59"/>
                </a:solidFill>
                <a:latin typeface="Arial"/>
              </a:rPr>
              <a:t>Grade</a:t>
            </a:r>
          </a:p>
        </p:txBody>
      </p:sp>
      <p:sp>
        <p:nvSpPr>
          <p:cNvPr id="20" name="Oval 19"/>
          <p:cNvSpPr/>
          <p:nvPr/>
        </p:nvSpPr>
        <p:spPr>
          <a:xfrm>
            <a:off x="7758684" y="2939796"/>
            <a:ext cx="118872" cy="118872"/>
          </a:xfrm>
          <a:prstGeom prst="ellipse">
            <a:avLst/>
          </a:prstGeom>
          <a:noFill/>
          <a:ln w="22225">
            <a:solidFill>
              <a:srgbClr val="14202B"/>
            </a:solidFill>
          </a:ln>
        </p:spPr>
        <p:txBody>
          <a:bodyPr rtlCol="0" anchor="ctr"/>
          <a:lstStyle/>
          <a:p>
            <a:pPr algn="ctr"/>
          </a:p>
        </p:txBody>
      </p:sp>
      <p:sp>
        <p:nvSpPr>
          <p:cNvPr id="21" name="TextBox 20"/>
          <p:cNvSpPr txBox="1"/>
          <p:nvPr/>
        </p:nvSpPr>
        <p:spPr>
          <a:xfrm>
            <a:off x="8001000" y="2871215"/>
            <a:ext cx="3230575" cy="274320"/>
          </a:xfrm>
          <a:prstGeom prst="rect">
            <a:avLst/>
          </a:prstGeom>
          <a:noFill/>
        </p:spPr>
        <p:txBody>
          <a:bodyPr wrap="square" lIns="0" rIns="0" tIns="0" bIns="0" anchor="t">
            <a:noAutofit/>
          </a:bodyPr>
          <a:lstStyle/>
          <a:p>
            <a:pPr algn="l"/>
            <a:r>
              <a:rPr sz="1700" b="0">
                <a:solidFill>
                  <a:srgbClr val="3A4A59"/>
                </a:solidFill>
                <a:latin typeface="Arial"/>
              </a:rPr>
              <a:t>APR</a:t>
            </a:r>
          </a:p>
        </p:txBody>
      </p:sp>
      <p:sp>
        <p:nvSpPr>
          <p:cNvPr id="22" name="Oval 21"/>
          <p:cNvSpPr/>
          <p:nvPr/>
        </p:nvSpPr>
        <p:spPr>
          <a:xfrm>
            <a:off x="7758684" y="3232404"/>
            <a:ext cx="118872" cy="118872"/>
          </a:xfrm>
          <a:prstGeom prst="ellipse">
            <a:avLst/>
          </a:prstGeom>
          <a:noFill/>
          <a:ln w="22225">
            <a:solidFill>
              <a:srgbClr val="14202B"/>
            </a:solidFill>
          </a:ln>
        </p:spPr>
        <p:txBody>
          <a:bodyPr rtlCol="0" anchor="ctr"/>
          <a:lstStyle/>
          <a:p>
            <a:pPr algn="ctr"/>
          </a:p>
        </p:txBody>
      </p:sp>
      <p:sp>
        <p:nvSpPr>
          <p:cNvPr id="23" name="TextBox 22"/>
          <p:cNvSpPr txBox="1"/>
          <p:nvPr/>
        </p:nvSpPr>
        <p:spPr>
          <a:xfrm>
            <a:off x="8001000" y="3163824"/>
            <a:ext cx="3230575" cy="274320"/>
          </a:xfrm>
          <a:prstGeom prst="rect">
            <a:avLst/>
          </a:prstGeom>
          <a:noFill/>
        </p:spPr>
        <p:txBody>
          <a:bodyPr wrap="square" lIns="0" rIns="0" tIns="0" bIns="0" anchor="t">
            <a:noAutofit/>
          </a:bodyPr>
          <a:lstStyle/>
          <a:p>
            <a:pPr algn="l"/>
            <a:r>
              <a:rPr sz="1700" b="0">
                <a:solidFill>
                  <a:srgbClr val="3A4A59"/>
                </a:solidFill>
                <a:latin typeface="Arial"/>
              </a:rPr>
              <a:t>Advance</a:t>
            </a:r>
          </a:p>
        </p:txBody>
      </p:sp>
      <p:pic>
        <p:nvPicPr>
          <p:cNvPr id="24" name="Terminal" descr="terminal-tee.png"/>
          <p:cNvPicPr>
            <a:picLocks noChangeAspect="1"/>
          </p:cNvPicPr>
          <p:nvPr/>
        </p:nvPicPr>
        <p:blipFill>
          <a:blip r:embed="rId2"/>
          <a:stretch>
            <a:fillRect/>
          </a:stretch>
        </p:blipFill>
        <p:spPr>
          <a:xfrm>
            <a:off x="685800" y="3794760"/>
            <a:ext cx="5486400" cy="2226754"/>
          </a:xfrm>
          <a:prstGeom prst="rect">
            <a:avLst/>
          </a:prstGeom>
        </p:spPr>
      </p:pic>
      <p:sp>
        <p:nvSpPr>
          <p:cNvPr id="25" name="TextBox 24"/>
          <p:cNvSpPr txBox="1"/>
          <p:nvPr/>
        </p:nvSpPr>
        <p:spPr>
          <a:xfrm>
            <a:off x="685800" y="6112954"/>
            <a:ext cx="5486400" cy="411480"/>
          </a:xfrm>
          <a:prstGeom prst="rect">
            <a:avLst/>
          </a:prstGeom>
          <a:noFill/>
        </p:spPr>
        <p:txBody>
          <a:bodyPr wrap="square" lIns="0" rIns="0" tIns="0" bIns="0" anchor="t">
            <a:noAutofit/>
          </a:bodyPr>
          <a:lstStyle/>
          <a:p>
            <a:pPr algn="l">
              <a:lnSpc>
                <a:spcPct val="105000"/>
              </a:lnSpc>
            </a:pPr>
            <a:r>
              <a:rPr sz="1200" b="0">
                <a:solidFill>
                  <a:srgbClr val="5B6A78"/>
                </a:solidFill>
                <a:latin typeface="Arial"/>
              </a:rPr>
              <a:t>CRE CLI simulation of run 1: the handler requests AWS Nitro, the simulator runs it locally and says so, then delivers the signed report to Sepolia.</a:t>
            </a:r>
          </a:p>
        </p:txBody>
      </p:sp>
      <p:sp>
        <p:nvSpPr>
          <p:cNvPr id="26" name="Confidential HTTP"/>
          <p:cNvSpPr/>
          <p:nvPr/>
        </p:nvSpPr>
        <p:spPr>
          <a:xfrm>
            <a:off x="7452360" y="3794760"/>
            <a:ext cx="4053535" cy="2226754"/>
          </a:xfrm>
          <a:prstGeom prst="roundRect">
            <a:avLst>
              <a:gd name="adj" fmla="val 4927"/>
            </a:avLst>
          </a:prstGeom>
          <a:solidFill>
            <a:srgbClr val="FFFFFF"/>
          </a:solidFill>
          <a:ln w="12700">
            <a:solidFill>
              <a:srgbClr val="D9DFE5"/>
            </a:solidFill>
          </a:ln>
        </p:spPr>
        <p:txBody>
          <a:bodyPr rtlCol="0" anchor="ctr"/>
          <a:lstStyle/>
          <a:p>
            <a:pPr algn="ctr"/>
          </a:p>
        </p:txBody>
      </p:sp>
      <p:sp>
        <p:nvSpPr>
          <p:cNvPr id="27" name="TextBox 26"/>
          <p:cNvSpPr txBox="1"/>
          <p:nvPr/>
        </p:nvSpPr>
        <p:spPr>
          <a:xfrm>
            <a:off x="7744968" y="4023360"/>
            <a:ext cx="3504895" cy="411480"/>
          </a:xfrm>
          <a:prstGeom prst="rect">
            <a:avLst/>
          </a:prstGeom>
          <a:noFill/>
        </p:spPr>
        <p:txBody>
          <a:bodyPr wrap="square" lIns="0" rIns="0" tIns="0" bIns="0" anchor="t">
            <a:noAutofit/>
          </a:bodyPr>
          <a:lstStyle/>
          <a:p>
            <a:pPr algn="l"/>
            <a:r>
              <a:rPr sz="2200" b="1">
                <a:solidFill>
                  <a:srgbClr val="14202B"/>
                </a:solidFill>
                <a:latin typeface="Arial"/>
              </a:rPr>
              <a:t>Confidential HTTP</a:t>
            </a:r>
          </a:p>
        </p:txBody>
      </p:sp>
      <p:sp>
        <p:nvSpPr>
          <p:cNvPr id="28" name="TextBox 27"/>
          <p:cNvSpPr txBox="1"/>
          <p:nvPr/>
        </p:nvSpPr>
        <p:spPr>
          <a:xfrm>
            <a:off x="7744968" y="4507992"/>
            <a:ext cx="3504895" cy="1358074"/>
          </a:xfrm>
          <a:prstGeom prst="rect">
            <a:avLst/>
          </a:prstGeom>
          <a:noFill/>
        </p:spPr>
        <p:txBody>
          <a:bodyPr wrap="square" lIns="0" rIns="0" tIns="0" bIns="0" anchor="t">
            <a:noAutofit/>
          </a:bodyPr>
          <a:lstStyle/>
          <a:p>
            <a:pPr algn="l">
              <a:lnSpc>
                <a:spcPct val="110000"/>
              </a:lnSpc>
            </a:pPr>
            <a:r>
              <a:rPr sz="1600" b="0">
                <a:solidFill>
                  <a:srgbClr val="3A4A59"/>
                </a:solidFill>
                <a:latin typeface="Arial"/>
              </a:rPr>
              <a:t>KYC and bank deposit checks call their APIs with a Vault DON secret. On a deployed DON it is injected inside the enclave, never held in workflow code.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2F4F6"/>
        </a:solidFill>
        <a:effectLst/>
      </p:bgPr>
    </p:bg>
    <p:spTree>
      <p:nvGrpSpPr>
        <p:cNvPr id="1" name=""/>
        <p:cNvGrpSpPr/>
        <p:nvPr/>
      </p:nvGrpSpPr>
      <p:grpSpPr/>
      <p:sp>
        <p:nvSpPr>
          <p:cNvPr id="2" name="Title"/>
          <p:cNvSpPr txBox="1"/>
          <p:nvPr/>
        </p:nvSpPr>
        <p:spPr>
          <a:xfrm>
            <a:off x="685800" y="566928"/>
            <a:ext cx="10820095" cy="731520"/>
          </a:xfrm>
          <a:prstGeom prst="rect">
            <a:avLst/>
          </a:prstGeom>
          <a:noFill/>
        </p:spPr>
        <p:txBody>
          <a:bodyPr wrap="square" lIns="0" rIns="0" tIns="0" bIns="0" anchor="t">
            <a:noAutofit/>
          </a:bodyPr>
          <a:lstStyle/>
          <a:p>
            <a:pPr algn="l"/>
            <a:r>
              <a:rPr sz="4000" b="1">
                <a:solidFill>
                  <a:srgbClr val="14202B"/>
                </a:solidFill>
                <a:latin typeface="Arial"/>
              </a:rPr>
              <a:t>Lenders do not take our word for it</a:t>
            </a:r>
          </a:p>
        </p:txBody>
      </p:sp>
      <p:sp>
        <p:nvSpPr>
          <p:cNvPr id="3" name="KYC-gated loan notes"/>
          <p:cNvSpPr/>
          <p:nvPr/>
        </p:nvSpPr>
        <p:spPr>
          <a:xfrm>
            <a:off x="685800" y="1645920"/>
            <a:ext cx="5272887" cy="2011680"/>
          </a:xfrm>
          <a:prstGeom prst="roundRect">
            <a:avLst>
              <a:gd name="adj" fmla="val 5454"/>
            </a:avLst>
          </a:prstGeom>
          <a:solidFill>
            <a:srgbClr val="FFFFFF"/>
          </a:solidFill>
          <a:ln w="12700">
            <a:solidFill>
              <a:srgbClr val="D9DFE5"/>
            </a:solidFill>
          </a:ln>
        </p:spPr>
        <p:txBody>
          <a:bodyPr rtlCol="0" anchor="ctr"/>
          <a:lstStyle/>
          <a:p>
            <a:pPr algn="ctr"/>
          </a:p>
        </p:txBody>
      </p:sp>
      <p:sp>
        <p:nvSpPr>
          <p:cNvPr id="4" name="Oval 3"/>
          <p:cNvSpPr/>
          <p:nvPr/>
        </p:nvSpPr>
        <p:spPr>
          <a:xfrm>
            <a:off x="1024127" y="2066544"/>
            <a:ext cx="182880" cy="182880"/>
          </a:xfrm>
          <a:prstGeom prst="ellipse">
            <a:avLst/>
          </a:prstGeom>
          <a:solidFill>
            <a:srgbClr val="F2B705"/>
          </a:solidFill>
          <a:ln>
            <a:noFill/>
          </a:ln>
        </p:spPr>
        <p:txBody>
          <a:bodyPr rtlCol="0" anchor="ctr"/>
          <a:lstStyle/>
          <a:p>
            <a:pPr algn="ctr"/>
          </a:p>
        </p:txBody>
      </p:sp>
      <p:sp>
        <p:nvSpPr>
          <p:cNvPr id="5" name="TextBox 4"/>
          <p:cNvSpPr txBox="1"/>
          <p:nvPr/>
        </p:nvSpPr>
        <p:spPr>
          <a:xfrm>
            <a:off x="1417320" y="1975104"/>
            <a:ext cx="4267047" cy="411480"/>
          </a:xfrm>
          <a:prstGeom prst="rect">
            <a:avLst/>
          </a:prstGeom>
          <a:noFill/>
        </p:spPr>
        <p:txBody>
          <a:bodyPr wrap="square" lIns="0" rIns="0" tIns="0" bIns="0" anchor="t">
            <a:noAutofit/>
          </a:bodyPr>
          <a:lstStyle/>
          <a:p>
            <a:pPr algn="l"/>
            <a:r>
              <a:rPr sz="2400" b="1">
                <a:solidFill>
                  <a:srgbClr val="14202B"/>
                </a:solidFill>
                <a:latin typeface="Arial"/>
              </a:rPr>
              <a:t>KYC-gated loan notes</a:t>
            </a:r>
          </a:p>
        </p:txBody>
      </p:sp>
      <p:sp>
        <p:nvSpPr>
          <p:cNvPr id="6" name="TextBox 5"/>
          <p:cNvSpPr txBox="1"/>
          <p:nvPr/>
        </p:nvSpPr>
        <p:spPr>
          <a:xfrm>
            <a:off x="1417320" y="2514600"/>
            <a:ext cx="4267047" cy="685800"/>
          </a:xfrm>
          <a:prstGeom prst="rect">
            <a:avLst/>
          </a:prstGeom>
          <a:noFill/>
        </p:spPr>
        <p:txBody>
          <a:bodyPr wrap="square" lIns="0" rIns="0" tIns="0" bIns="0" anchor="t">
            <a:noAutofit/>
          </a:bodyPr>
          <a:lstStyle/>
          <a:p>
            <a:pPr algn="l">
              <a:lnSpc>
                <a:spcPct val="110000"/>
              </a:lnSpc>
            </a:pPr>
            <a:r>
              <a:rPr sz="1800" b="0">
                <a:solidFill>
                  <a:srgbClr val="3A4A59"/>
                </a:solidFill>
                <a:latin typeface="Arial"/>
              </a:rPr>
              <a:t>ERC-1155 notes that only move between verified holders.</a:t>
            </a:r>
          </a:p>
        </p:txBody>
      </p:sp>
      <p:sp>
        <p:nvSpPr>
          <p:cNvPr id="7" name="TextBox 6"/>
          <p:cNvSpPr txBox="1"/>
          <p:nvPr/>
        </p:nvSpPr>
        <p:spPr>
          <a:xfrm>
            <a:off x="1417320" y="3227832"/>
            <a:ext cx="4267047" cy="228600"/>
          </a:xfrm>
          <a:prstGeom prst="rect">
            <a:avLst/>
          </a:prstGeom>
          <a:noFill/>
        </p:spPr>
        <p:txBody>
          <a:bodyPr wrap="square" lIns="0" rIns="0" tIns="0" bIns="0" anchor="t">
            <a:noAutofit/>
          </a:bodyPr>
          <a:lstStyle/>
          <a:p>
            <a:pPr algn="l"/>
            <a:r>
              <a:rPr sz="1200" b="0">
                <a:solidFill>
                  <a:srgbClr val="5B6A78"/>
                </a:solidFill>
                <a:latin typeface="Arial"/>
              </a:rPr>
              <a:t>contracts/src/LoanNotes.sol</a:t>
            </a:r>
          </a:p>
        </p:txBody>
      </p:sp>
      <p:sp>
        <p:nvSpPr>
          <p:cNvPr id="8" name="Enforced by code"/>
          <p:cNvSpPr/>
          <p:nvPr/>
        </p:nvSpPr>
        <p:spPr>
          <a:xfrm>
            <a:off x="6233007" y="1645920"/>
            <a:ext cx="5272887" cy="2011680"/>
          </a:xfrm>
          <a:prstGeom prst="roundRect">
            <a:avLst>
              <a:gd name="adj" fmla="val 5454"/>
            </a:avLst>
          </a:prstGeom>
          <a:solidFill>
            <a:srgbClr val="FFFFFF"/>
          </a:solidFill>
          <a:ln w="12700">
            <a:solidFill>
              <a:srgbClr val="D9DFE5"/>
            </a:solidFill>
          </a:ln>
        </p:spPr>
        <p:txBody>
          <a:bodyPr rtlCol="0" anchor="ctr"/>
          <a:lstStyle/>
          <a:p>
            <a:pPr algn="ctr"/>
          </a:p>
        </p:txBody>
      </p:sp>
      <p:sp>
        <p:nvSpPr>
          <p:cNvPr id="9" name="Oval 8"/>
          <p:cNvSpPr/>
          <p:nvPr/>
        </p:nvSpPr>
        <p:spPr>
          <a:xfrm>
            <a:off x="6571335" y="2066544"/>
            <a:ext cx="182880" cy="182880"/>
          </a:xfrm>
          <a:prstGeom prst="ellipse">
            <a:avLst/>
          </a:prstGeom>
          <a:solidFill>
            <a:srgbClr val="F2B705"/>
          </a:solidFill>
          <a:ln>
            <a:noFill/>
          </a:ln>
        </p:spPr>
        <p:txBody>
          <a:bodyPr rtlCol="0" anchor="ctr"/>
          <a:lstStyle/>
          <a:p>
            <a:pPr algn="ctr"/>
          </a:p>
        </p:txBody>
      </p:sp>
      <p:sp>
        <p:nvSpPr>
          <p:cNvPr id="10" name="TextBox 9"/>
          <p:cNvSpPr txBox="1"/>
          <p:nvPr/>
        </p:nvSpPr>
        <p:spPr>
          <a:xfrm>
            <a:off x="6964527" y="1975104"/>
            <a:ext cx="4267047" cy="411480"/>
          </a:xfrm>
          <a:prstGeom prst="rect">
            <a:avLst/>
          </a:prstGeom>
          <a:noFill/>
        </p:spPr>
        <p:txBody>
          <a:bodyPr wrap="square" lIns="0" rIns="0" tIns="0" bIns="0" anchor="t">
            <a:noAutofit/>
          </a:bodyPr>
          <a:lstStyle/>
          <a:p>
            <a:pPr algn="l"/>
            <a:r>
              <a:rPr sz="2400" b="1">
                <a:solidFill>
                  <a:srgbClr val="14202B"/>
                </a:solidFill>
                <a:latin typeface="Arial"/>
              </a:rPr>
              <a:t>Enforced by code</a:t>
            </a:r>
          </a:p>
        </p:txBody>
      </p:sp>
      <p:sp>
        <p:nvSpPr>
          <p:cNvPr id="11" name="TextBox 10"/>
          <p:cNvSpPr txBox="1"/>
          <p:nvPr/>
        </p:nvSpPr>
        <p:spPr>
          <a:xfrm>
            <a:off x="6964527" y="2514600"/>
            <a:ext cx="4267047" cy="685800"/>
          </a:xfrm>
          <a:prstGeom prst="rect">
            <a:avLst/>
          </a:prstGeom>
          <a:noFill/>
        </p:spPr>
        <p:txBody>
          <a:bodyPr wrap="square" lIns="0" rIns="0" tIns="0" bIns="0" anchor="t">
            <a:noAutofit/>
          </a:bodyPr>
          <a:lstStyle/>
          <a:p>
            <a:pPr algn="l">
              <a:lnSpc>
                <a:spcPct val="110000"/>
              </a:lnSpc>
            </a:pPr>
            <a:r>
              <a:rPr sz="1800" b="0">
                <a:solidFill>
                  <a:srgbClr val="3A4A59"/>
                </a:solidFill>
                <a:latin typeface="Arial"/>
              </a:rPr>
              <a:t>A late loan freezes the business. A books mismatch pauses all new funding.</a:t>
            </a:r>
          </a:p>
        </p:txBody>
      </p:sp>
      <p:sp>
        <p:nvSpPr>
          <p:cNvPr id="12" name="TextBox 11"/>
          <p:cNvSpPr txBox="1"/>
          <p:nvPr/>
        </p:nvSpPr>
        <p:spPr>
          <a:xfrm>
            <a:off x="6964527" y="3227832"/>
            <a:ext cx="4267047" cy="228600"/>
          </a:xfrm>
          <a:prstGeom prst="rect">
            <a:avLst/>
          </a:prstGeom>
          <a:noFill/>
        </p:spPr>
        <p:txBody>
          <a:bodyPr wrap="square" lIns="0" rIns="0" tIns="0" bIns="0" anchor="t">
            <a:noAutofit/>
          </a:bodyPr>
          <a:lstStyle/>
          <a:p>
            <a:pPr algn="l"/>
            <a:r>
              <a:rPr sz="1200" b="0">
                <a:solidFill>
                  <a:srgbClr val="5B6A78"/>
                </a:solidFill>
                <a:latin typeface="Arial"/>
              </a:rPr>
              <a:t>frozenBorrower, fundingPaused in TradeflowMarket</a:t>
            </a:r>
          </a:p>
        </p:txBody>
      </p:sp>
      <p:sp>
        <p:nvSpPr>
          <p:cNvPr id="13" name="No double financing"/>
          <p:cNvSpPr/>
          <p:nvPr/>
        </p:nvSpPr>
        <p:spPr>
          <a:xfrm>
            <a:off x="685800" y="3931920"/>
            <a:ext cx="5272887" cy="2011680"/>
          </a:xfrm>
          <a:prstGeom prst="roundRect">
            <a:avLst>
              <a:gd name="adj" fmla="val 5454"/>
            </a:avLst>
          </a:prstGeom>
          <a:solidFill>
            <a:srgbClr val="FFFFFF"/>
          </a:solidFill>
          <a:ln w="12700">
            <a:solidFill>
              <a:srgbClr val="D9DFE5"/>
            </a:solidFill>
          </a:ln>
        </p:spPr>
        <p:txBody>
          <a:bodyPr rtlCol="0" anchor="ctr"/>
          <a:lstStyle/>
          <a:p>
            <a:pPr algn="ctr"/>
          </a:p>
        </p:txBody>
      </p:sp>
      <p:sp>
        <p:nvSpPr>
          <p:cNvPr id="14" name="Oval 13"/>
          <p:cNvSpPr/>
          <p:nvPr/>
        </p:nvSpPr>
        <p:spPr>
          <a:xfrm>
            <a:off x="1024127" y="4352544"/>
            <a:ext cx="182880" cy="182880"/>
          </a:xfrm>
          <a:prstGeom prst="ellipse">
            <a:avLst/>
          </a:prstGeom>
          <a:solidFill>
            <a:srgbClr val="F2B705"/>
          </a:solidFill>
          <a:ln>
            <a:noFill/>
          </a:ln>
        </p:spPr>
        <p:txBody>
          <a:bodyPr rtlCol="0" anchor="ctr"/>
          <a:lstStyle/>
          <a:p>
            <a:pPr algn="ctr"/>
          </a:p>
        </p:txBody>
      </p:sp>
      <p:sp>
        <p:nvSpPr>
          <p:cNvPr id="15" name="TextBox 14"/>
          <p:cNvSpPr txBox="1"/>
          <p:nvPr/>
        </p:nvSpPr>
        <p:spPr>
          <a:xfrm>
            <a:off x="1417320" y="4261104"/>
            <a:ext cx="4267047" cy="411480"/>
          </a:xfrm>
          <a:prstGeom prst="rect">
            <a:avLst/>
          </a:prstGeom>
          <a:noFill/>
        </p:spPr>
        <p:txBody>
          <a:bodyPr wrap="square" lIns="0" rIns="0" tIns="0" bIns="0" anchor="t">
            <a:noAutofit/>
          </a:bodyPr>
          <a:lstStyle/>
          <a:p>
            <a:pPr algn="l"/>
            <a:r>
              <a:rPr sz="2400" b="1">
                <a:solidFill>
                  <a:srgbClr val="14202B"/>
                </a:solidFill>
                <a:latin typeface="Arial"/>
              </a:rPr>
              <a:t>No double financing</a:t>
            </a:r>
          </a:p>
        </p:txBody>
      </p:sp>
      <p:sp>
        <p:nvSpPr>
          <p:cNvPr id="16" name="TextBox 15"/>
          <p:cNvSpPr txBox="1"/>
          <p:nvPr/>
        </p:nvSpPr>
        <p:spPr>
          <a:xfrm>
            <a:off x="1417320" y="4800600"/>
            <a:ext cx="4267047" cy="685800"/>
          </a:xfrm>
          <a:prstGeom prst="rect">
            <a:avLst/>
          </a:prstGeom>
          <a:noFill/>
        </p:spPr>
        <p:txBody>
          <a:bodyPr wrap="square" lIns="0" rIns="0" tIns="0" bIns="0" anchor="t">
            <a:noAutofit/>
          </a:bodyPr>
          <a:lstStyle/>
          <a:p>
            <a:pPr algn="l">
              <a:lnSpc>
                <a:spcPct val="110000"/>
              </a:lnSpc>
            </a:pPr>
            <a:r>
              <a:rPr sz="1800" b="0">
                <a:solidFill>
                  <a:srgbClr val="3A4A59"/>
                </a:solidFill>
                <a:latin typeface="Arial"/>
              </a:rPr>
              <a:t>The document hash is recorded onchain. The same invoice cannot list twice.</a:t>
            </a:r>
          </a:p>
        </p:txBody>
      </p:sp>
      <p:sp>
        <p:nvSpPr>
          <p:cNvPr id="17" name="TextBox 16"/>
          <p:cNvSpPr txBox="1"/>
          <p:nvPr/>
        </p:nvSpPr>
        <p:spPr>
          <a:xfrm>
            <a:off x="1417320" y="5513832"/>
            <a:ext cx="4267047" cy="228600"/>
          </a:xfrm>
          <a:prstGeom prst="rect">
            <a:avLst/>
          </a:prstGeom>
          <a:noFill/>
        </p:spPr>
        <p:txBody>
          <a:bodyPr wrap="square" lIns="0" rIns="0" tIns="0" bIns="0" anchor="t">
            <a:noAutofit/>
          </a:bodyPr>
          <a:lstStyle/>
          <a:p>
            <a:pPr algn="l"/>
            <a:r>
              <a:rPr sz="1200" b="0">
                <a:solidFill>
                  <a:srgbClr val="5B6A78"/>
                </a:solidFill>
                <a:latin typeface="Arial"/>
              </a:rPr>
              <a:t>usedRef in TradeflowMarket, checked by the listing workflow</a:t>
            </a:r>
          </a:p>
        </p:txBody>
      </p:sp>
      <p:sp>
        <p:nvSpPr>
          <p:cNvPr id="18" name="Every decision is signed"/>
          <p:cNvSpPr/>
          <p:nvPr/>
        </p:nvSpPr>
        <p:spPr>
          <a:xfrm>
            <a:off x="6233007" y="3931920"/>
            <a:ext cx="5272887" cy="2011680"/>
          </a:xfrm>
          <a:prstGeom prst="roundRect">
            <a:avLst>
              <a:gd name="adj" fmla="val 5454"/>
            </a:avLst>
          </a:prstGeom>
          <a:solidFill>
            <a:srgbClr val="FFFFFF"/>
          </a:solidFill>
          <a:ln w="12700">
            <a:solidFill>
              <a:srgbClr val="D9DFE5"/>
            </a:solidFill>
          </a:ln>
        </p:spPr>
        <p:txBody>
          <a:bodyPr rtlCol="0" anchor="ctr"/>
          <a:lstStyle/>
          <a:p>
            <a:pPr algn="ctr"/>
          </a:p>
        </p:txBody>
      </p:sp>
      <p:sp>
        <p:nvSpPr>
          <p:cNvPr id="19" name="Oval 18"/>
          <p:cNvSpPr/>
          <p:nvPr/>
        </p:nvSpPr>
        <p:spPr>
          <a:xfrm>
            <a:off x="6571335" y="4352544"/>
            <a:ext cx="182880" cy="182880"/>
          </a:xfrm>
          <a:prstGeom prst="ellipse">
            <a:avLst/>
          </a:prstGeom>
          <a:solidFill>
            <a:srgbClr val="F2B705"/>
          </a:solidFill>
          <a:ln>
            <a:noFill/>
          </a:ln>
        </p:spPr>
        <p:txBody>
          <a:bodyPr rtlCol="0" anchor="ctr"/>
          <a:lstStyle/>
          <a:p>
            <a:pPr algn="ctr"/>
          </a:p>
        </p:txBody>
      </p:sp>
      <p:sp>
        <p:nvSpPr>
          <p:cNvPr id="20" name="TextBox 19"/>
          <p:cNvSpPr txBox="1"/>
          <p:nvPr/>
        </p:nvSpPr>
        <p:spPr>
          <a:xfrm>
            <a:off x="6964527" y="4261104"/>
            <a:ext cx="4267047" cy="411480"/>
          </a:xfrm>
          <a:prstGeom prst="rect">
            <a:avLst/>
          </a:prstGeom>
          <a:noFill/>
        </p:spPr>
        <p:txBody>
          <a:bodyPr wrap="square" lIns="0" rIns="0" tIns="0" bIns="0" anchor="t">
            <a:noAutofit/>
          </a:bodyPr>
          <a:lstStyle/>
          <a:p>
            <a:pPr algn="l"/>
            <a:r>
              <a:rPr sz="2400" b="1">
                <a:solidFill>
                  <a:srgbClr val="14202B"/>
                </a:solidFill>
                <a:latin typeface="Arial"/>
              </a:rPr>
              <a:t>Every decision is signed</a:t>
            </a:r>
          </a:p>
        </p:txBody>
      </p:sp>
      <p:sp>
        <p:nvSpPr>
          <p:cNvPr id="21" name="TextBox 20"/>
          <p:cNvSpPr txBox="1"/>
          <p:nvPr/>
        </p:nvSpPr>
        <p:spPr>
          <a:xfrm>
            <a:off x="6964527" y="4800600"/>
            <a:ext cx="4267047" cy="685800"/>
          </a:xfrm>
          <a:prstGeom prst="rect">
            <a:avLst/>
          </a:prstGeom>
          <a:noFill/>
        </p:spPr>
        <p:txBody>
          <a:bodyPr wrap="square" lIns="0" rIns="0" tIns="0" bIns="0" anchor="t">
            <a:noAutofit/>
          </a:bodyPr>
          <a:lstStyle/>
          <a:p>
            <a:pPr algn="l">
              <a:lnSpc>
                <a:spcPct val="110000"/>
              </a:lnSpc>
            </a:pPr>
            <a:r>
              <a:rPr sz="1800" b="0">
                <a:solidFill>
                  <a:srgbClr val="3A4A59"/>
                </a:solidFill>
                <a:latin typeface="Arial"/>
              </a:rPr>
              <a:t>A CRE report through the forwarder. The market rejects anything outside policy.</a:t>
            </a:r>
          </a:p>
        </p:txBody>
      </p:sp>
      <p:sp>
        <p:nvSpPr>
          <p:cNvPr id="22" name="TextBox 21"/>
          <p:cNvSpPr txBox="1"/>
          <p:nvPr/>
        </p:nvSpPr>
        <p:spPr>
          <a:xfrm>
            <a:off x="6964527" y="5513832"/>
            <a:ext cx="4267047" cy="228600"/>
          </a:xfrm>
          <a:prstGeom prst="rect">
            <a:avLst/>
          </a:prstGeom>
          <a:noFill/>
        </p:spPr>
        <p:txBody>
          <a:bodyPr wrap="square" lIns="0" rIns="0" tIns="0" bIns="0" anchor="t">
            <a:noAutofit/>
          </a:bodyPr>
          <a:lstStyle/>
          <a:p>
            <a:pPr algn="l"/>
            <a:r>
              <a:rPr sz="1200" b="0">
                <a:solidFill>
                  <a:srgbClr val="5B6A78"/>
                </a:solidFill>
                <a:latin typeface="Arial"/>
              </a:rPr>
              <a:t>TradeflowMarket is a CRE ReceiverTemplate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2F4F6"/>
        </a:solidFill>
        <a:effectLst/>
      </p:bgPr>
    </p:bg>
    <p:spTree>
      <p:nvGrpSpPr>
        <p:cNvPr id="1" name=""/>
        <p:cNvGrpSpPr/>
        <p:nvPr/>
      </p:nvGrpSpPr>
      <p:grpSpPr/>
      <p:sp>
        <p:nvSpPr>
          <p:cNvPr id="2" name="Title"/>
          <p:cNvSpPr txBox="1"/>
          <p:nvPr/>
        </p:nvSpPr>
        <p:spPr>
          <a:xfrm>
            <a:off x="685800" y="566928"/>
            <a:ext cx="10820095" cy="731520"/>
          </a:xfrm>
          <a:prstGeom prst="rect">
            <a:avLst/>
          </a:prstGeom>
          <a:noFill/>
        </p:spPr>
        <p:txBody>
          <a:bodyPr wrap="square" lIns="0" rIns="0" tIns="0" bIns="0" anchor="t">
            <a:noAutofit/>
          </a:bodyPr>
          <a:lstStyle/>
          <a:p>
            <a:pPr algn="l"/>
            <a:r>
              <a:rPr sz="4000" b="1">
                <a:solidFill>
                  <a:srgbClr val="14202B"/>
                </a:solidFill>
                <a:latin typeface="Arial"/>
              </a:rPr>
              <a:t>It runs on Ethereum Sepolia</a:t>
            </a:r>
          </a:p>
        </p:txBody>
      </p:sp>
      <p:sp>
        <p:nvSpPr>
          <p:cNvPr id="3" name="TextBox 2"/>
          <p:cNvSpPr txBox="1"/>
          <p:nvPr/>
        </p:nvSpPr>
        <p:spPr>
          <a:xfrm>
            <a:off x="685800" y="1554480"/>
            <a:ext cx="4434840" cy="777240"/>
          </a:xfrm>
          <a:prstGeom prst="rect">
            <a:avLst/>
          </a:prstGeom>
          <a:noFill/>
        </p:spPr>
        <p:txBody>
          <a:bodyPr wrap="square" lIns="0" rIns="0" tIns="0" bIns="0" anchor="t">
            <a:noAutofit/>
          </a:bodyPr>
          <a:lstStyle/>
          <a:p>
            <a:pPr algn="l"/>
            <a:r>
              <a:rPr sz="5400" b="1">
                <a:solidFill>
                  <a:srgbClr val="14202B"/>
                </a:solidFill>
                <a:latin typeface="Arial"/>
              </a:rPr>
              <a:t>14</a:t>
            </a:r>
          </a:p>
        </p:txBody>
      </p:sp>
      <p:sp>
        <p:nvSpPr>
          <p:cNvPr id="4" name="TextBox 3"/>
          <p:cNvSpPr txBox="1"/>
          <p:nvPr/>
        </p:nvSpPr>
        <p:spPr>
          <a:xfrm>
            <a:off x="685800" y="2331720"/>
            <a:ext cx="4434840" cy="320040"/>
          </a:xfrm>
          <a:prstGeom prst="rect">
            <a:avLst/>
          </a:prstGeom>
          <a:noFill/>
        </p:spPr>
        <p:txBody>
          <a:bodyPr wrap="square" lIns="0" rIns="0" tIns="0" bIns="0" anchor="t">
            <a:noAutofit/>
          </a:bodyPr>
          <a:lstStyle/>
          <a:p>
            <a:pPr algn="l"/>
            <a:r>
              <a:rPr sz="1600" b="0">
                <a:solidFill>
                  <a:srgbClr val="3A4A59"/>
                </a:solidFill>
                <a:latin typeface="Arial"/>
              </a:rPr>
              <a:t>CRE workflow runs, 14 Sepolia transactions</a:t>
            </a:r>
          </a:p>
        </p:txBody>
      </p:sp>
      <p:sp>
        <p:nvSpPr>
          <p:cNvPr id="5" name="TextBox 4"/>
          <p:cNvSpPr txBox="1"/>
          <p:nvPr/>
        </p:nvSpPr>
        <p:spPr>
          <a:xfrm>
            <a:off x="685800" y="2670048"/>
            <a:ext cx="4434840" cy="274320"/>
          </a:xfrm>
          <a:prstGeom prst="rect">
            <a:avLst/>
          </a:prstGeom>
          <a:noFill/>
        </p:spPr>
        <p:txBody>
          <a:bodyPr wrap="square" lIns="0" rIns="0" tIns="0" bIns="0" anchor="t">
            <a:noAutofit/>
          </a:bodyPr>
          <a:lstStyle/>
          <a:p>
            <a:pPr algn="l"/>
            <a:r>
              <a:rPr sz="1400" b="1">
                <a:solidFill>
                  <a:srgbClr val="14202B"/>
                </a:solidFill>
                <a:latin typeface="Courier New"/>
              </a:rPr>
              <a:t>cre workflow simulate --broadcast</a:t>
            </a:r>
          </a:p>
        </p:txBody>
      </p:sp>
      <p:sp>
        <p:nvSpPr>
          <p:cNvPr id="6" name="TextBox 5"/>
          <p:cNvSpPr txBox="1"/>
          <p:nvPr/>
        </p:nvSpPr>
        <p:spPr>
          <a:xfrm>
            <a:off x="685800" y="3108960"/>
            <a:ext cx="4434840" cy="777240"/>
          </a:xfrm>
          <a:prstGeom prst="rect">
            <a:avLst/>
          </a:prstGeom>
          <a:noFill/>
        </p:spPr>
        <p:txBody>
          <a:bodyPr wrap="square" lIns="0" rIns="0" tIns="0" bIns="0" anchor="t">
            <a:noAutofit/>
          </a:bodyPr>
          <a:lstStyle/>
          <a:p>
            <a:pPr algn="l"/>
            <a:r>
              <a:rPr sz="5400" b="1">
                <a:solidFill>
                  <a:srgbClr val="14202B"/>
                </a:solidFill>
                <a:latin typeface="Arial"/>
              </a:rPr>
              <a:t>8 of 8</a:t>
            </a:r>
          </a:p>
        </p:txBody>
      </p:sp>
      <p:sp>
        <p:nvSpPr>
          <p:cNvPr id="7" name="TextBox 6"/>
          <p:cNvSpPr txBox="1"/>
          <p:nvPr/>
        </p:nvSpPr>
        <p:spPr>
          <a:xfrm>
            <a:off x="685800" y="3886200"/>
            <a:ext cx="4434840" cy="320040"/>
          </a:xfrm>
          <a:prstGeom prst="rect">
            <a:avLst/>
          </a:prstGeom>
          <a:noFill/>
        </p:spPr>
        <p:txBody>
          <a:bodyPr wrap="square" lIns="0" rIns="0" tIns="0" bIns="0" anchor="t">
            <a:noAutofit/>
          </a:bodyPr>
          <a:lstStyle/>
          <a:p>
            <a:pPr algn="l"/>
            <a:r>
              <a:rPr sz="1600" b="0">
                <a:solidFill>
                  <a:srgbClr val="3A4A59"/>
                </a:solidFill>
                <a:latin typeface="Arial"/>
              </a:rPr>
              <a:t>contract tests pass (forge test)</a:t>
            </a:r>
          </a:p>
        </p:txBody>
      </p:sp>
      <p:sp>
        <p:nvSpPr>
          <p:cNvPr id="8" name="TextBox 7"/>
          <p:cNvSpPr txBox="1"/>
          <p:nvPr/>
        </p:nvSpPr>
        <p:spPr>
          <a:xfrm>
            <a:off x="685800" y="4343400"/>
            <a:ext cx="4434840" cy="777240"/>
          </a:xfrm>
          <a:prstGeom prst="rect">
            <a:avLst/>
          </a:prstGeom>
          <a:noFill/>
        </p:spPr>
        <p:txBody>
          <a:bodyPr wrap="square" lIns="0" rIns="0" tIns="0" bIns="0" anchor="t">
            <a:noAutofit/>
          </a:bodyPr>
          <a:lstStyle/>
          <a:p>
            <a:pPr algn="l"/>
            <a:r>
              <a:rPr sz="5400" b="1">
                <a:solidFill>
                  <a:srgbClr val="14202B"/>
                </a:solidFill>
                <a:latin typeface="Arial"/>
              </a:rPr>
              <a:t>12</a:t>
            </a:r>
          </a:p>
        </p:txBody>
      </p:sp>
      <p:sp>
        <p:nvSpPr>
          <p:cNvPr id="9" name="TextBox 8"/>
          <p:cNvSpPr txBox="1"/>
          <p:nvPr/>
        </p:nvSpPr>
        <p:spPr>
          <a:xfrm>
            <a:off x="685800" y="5120640"/>
            <a:ext cx="4434840" cy="320040"/>
          </a:xfrm>
          <a:prstGeom prst="rect">
            <a:avLst/>
          </a:prstGeom>
          <a:noFill/>
        </p:spPr>
        <p:txBody>
          <a:bodyPr wrap="square" lIns="0" rIns="0" tIns="0" bIns="0" anchor="t">
            <a:noAutofit/>
          </a:bodyPr>
          <a:lstStyle/>
          <a:p>
            <a:pPr algn="l"/>
            <a:r>
              <a:rPr sz="1600" b="0">
                <a:solidFill>
                  <a:srgbClr val="3A4A59"/>
                </a:solidFill>
                <a:latin typeface="Arial"/>
              </a:rPr>
              <a:t>step end-to-end test, on a local Sepolia fork</a:t>
            </a:r>
          </a:p>
        </p:txBody>
      </p:sp>
      <p:sp>
        <p:nvSpPr>
          <p:cNvPr id="10" name="TextBox 9"/>
          <p:cNvSpPr txBox="1"/>
          <p:nvPr/>
        </p:nvSpPr>
        <p:spPr>
          <a:xfrm>
            <a:off x="685800" y="5623560"/>
            <a:ext cx="4434840" cy="365760"/>
          </a:xfrm>
          <a:prstGeom prst="rect">
            <a:avLst/>
          </a:prstGeom>
          <a:noFill/>
        </p:spPr>
        <p:txBody>
          <a:bodyPr wrap="square" lIns="0" rIns="0" tIns="0" bIns="0" anchor="t">
            <a:noAutofit/>
          </a:bodyPr>
          <a:lstStyle/>
          <a:p>
            <a:pPr algn="l"/>
            <a:r>
              <a:rPr sz="2000" b="1">
                <a:solidFill>
                  <a:srgbClr val="14202B"/>
                </a:solidFill>
                <a:latin typeface="Arial"/>
              </a:rPr>
              <a:t>github.com/Maadhav/tradeflow</a:t>
            </a:r>
          </a:p>
        </p:txBody>
      </p:sp>
      <p:sp>
        <p:nvSpPr>
          <p:cNvPr id="11" name="TextBox 10"/>
          <p:cNvSpPr txBox="1"/>
          <p:nvPr/>
        </p:nvSpPr>
        <p:spPr>
          <a:xfrm>
            <a:off x="685800" y="6007608"/>
            <a:ext cx="4434840" cy="274320"/>
          </a:xfrm>
          <a:prstGeom prst="rect">
            <a:avLst/>
          </a:prstGeom>
          <a:noFill/>
        </p:spPr>
        <p:txBody>
          <a:bodyPr wrap="square" lIns="0" rIns="0" tIns="0" bIns="0" anchor="t">
            <a:noAutofit/>
          </a:bodyPr>
          <a:lstStyle/>
          <a:p>
            <a:pPr algn="l"/>
            <a:r>
              <a:rPr sz="1400" b="0">
                <a:solidFill>
                  <a:srgbClr val="5B6A78"/>
                </a:solidFill>
                <a:latin typeface="Arial"/>
              </a:rPr>
              <a:t>Every run's log and transaction hash: evidence/</a:t>
            </a:r>
          </a:p>
        </p:txBody>
      </p:sp>
      <p:pic>
        <p:nvPicPr>
          <p:cNvPr id="12" name="Sepolia explorer" descr="explorer.png"/>
          <p:cNvPicPr>
            <a:picLocks noChangeAspect="1"/>
          </p:cNvPicPr>
          <p:nvPr/>
        </p:nvPicPr>
        <p:blipFill>
          <a:blip r:embed="rId2"/>
          <a:stretch>
            <a:fillRect/>
          </a:stretch>
        </p:blipFill>
        <p:spPr>
          <a:xfrm>
            <a:off x="5394960" y="1645920"/>
            <a:ext cx="6110935" cy="3538597"/>
          </a:xfrm>
          <a:prstGeom prst="rect">
            <a:avLst/>
          </a:prstGeom>
          <a:ln w="9525">
            <a:solidFill>
              <a:srgbClr val="D9DFE5"/>
            </a:solidFill>
          </a:ln>
        </p:spPr>
      </p:pic>
      <p:sp>
        <p:nvSpPr>
          <p:cNvPr id="13" name="TextBox 12"/>
          <p:cNvSpPr txBox="1"/>
          <p:nvPr/>
        </p:nvSpPr>
        <p:spPr>
          <a:xfrm>
            <a:off x="5394960" y="5294245"/>
            <a:ext cx="6110935" cy="411480"/>
          </a:xfrm>
          <a:prstGeom prst="rect">
            <a:avLst/>
          </a:prstGeom>
          <a:noFill/>
        </p:spPr>
        <p:txBody>
          <a:bodyPr wrap="square" lIns="0" rIns="0" tIns="0" bIns="0" anchor="t">
            <a:noAutofit/>
          </a:bodyPr>
          <a:lstStyle/>
          <a:p>
            <a:pPr algn="l">
              <a:lnSpc>
                <a:spcPct val="105000"/>
              </a:lnSpc>
            </a:pPr>
            <a:r>
              <a:rPr sz="1200" b="0">
                <a:solidFill>
                  <a:srgbClr val="5B6A78"/>
                </a:solidFill>
                <a:latin typeface="Arial"/>
              </a:rPr>
              <a:t>Monitor run 10 on Sepolia: the books disagree, so a signed CRE report pauses funding onchain. The CLI simulator delivers through its Sepolia MockKeystoneForwarder.</a:t>
            </a:r>
          </a:p>
        </p:txBody>
      </p:sp>
      <p:sp>
        <p:nvSpPr>
          <p:cNvPr id="14" name="TextBox 13"/>
          <p:cNvSpPr txBox="1"/>
          <p:nvPr/>
        </p:nvSpPr>
        <p:spPr>
          <a:xfrm>
            <a:off x="5394960" y="5852160"/>
            <a:ext cx="6110935" cy="457200"/>
          </a:xfrm>
          <a:prstGeom prst="rect">
            <a:avLst/>
          </a:prstGeom>
          <a:noFill/>
        </p:spPr>
        <p:txBody>
          <a:bodyPr wrap="square" lIns="0" rIns="0" tIns="0" bIns="0" anchor="t">
            <a:noAutofit/>
          </a:bodyPr>
          <a:lstStyle/>
          <a:p>
            <a:pPr algn="l">
              <a:lnSpc>
                <a:spcPct val="105000"/>
              </a:lnSpc>
            </a:pPr>
            <a:r>
              <a:rPr sz="1200" b="1">
                <a:solidFill>
                  <a:srgbClr val="3A4A59"/>
                </a:solidFill>
                <a:latin typeface="Arial"/>
              </a:rPr>
              <a:t>Banks, KYC, credit bureau and on-ramp are simulated services. The workflows, contracts and Sepolia transactions are real. USDC is a test token.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4202B"/>
        </a:solidFill>
        <a:effectLst/>
      </p:bgPr>
    </p:bg>
    <p:spTree>
      <p:nvGrpSpPr>
        <p:cNvPr id="1" name=""/>
        <p:cNvGrpSpPr/>
        <p:nvPr/>
      </p:nvGrpSpPr>
      <p:grpSpPr/>
      <p:sp>
        <p:nvSpPr>
          <p:cNvPr id="2" name="Title"/>
          <p:cNvSpPr txBox="1"/>
          <p:nvPr/>
        </p:nvSpPr>
        <p:spPr>
          <a:xfrm>
            <a:off x="685800" y="566928"/>
            <a:ext cx="10820095" cy="731520"/>
          </a:xfrm>
          <a:prstGeom prst="rect">
            <a:avLst/>
          </a:prstGeom>
          <a:noFill/>
        </p:spPr>
        <p:txBody>
          <a:bodyPr wrap="square" lIns="0" rIns="0" tIns="0" bIns="0" anchor="t">
            <a:noAutofit/>
          </a:bodyPr>
          <a:lstStyle/>
          <a:p>
            <a:pPr algn="l"/>
            <a:r>
              <a:rPr sz="4000" b="1">
                <a:solidFill>
                  <a:srgbClr val="FFFFFF"/>
                </a:solidFill>
                <a:latin typeface="Arial"/>
              </a:rPr>
              <a:t>What is next</a:t>
            </a:r>
          </a:p>
        </p:txBody>
      </p:sp>
      <p:cxnSp>
        <p:nvCxnSpPr>
          <p:cNvPr id="3" name="Connector 2"/>
          <p:cNvCxnSpPr/>
          <p:nvPr/>
        </p:nvCxnSpPr>
        <p:spPr>
          <a:xfrm>
            <a:off x="1042416" y="1828800"/>
            <a:ext cx="7036612" cy="0"/>
          </a:xfrm>
          <a:prstGeom prst="line">
            <a:avLst/>
          </a:prstGeom>
          <a:ln w="28575">
            <a:solidFill>
              <a:srgbClr val="A9B6C2"/>
            </a:solidFill>
            <a:prstDash val="dash"/>
          </a:ln>
        </p:spPr>
      </p:cxnSp>
      <p:sp>
        <p:nvSpPr>
          <p:cNvPr id="4" name="Oval 3"/>
          <p:cNvSpPr/>
          <p:nvPr/>
        </p:nvSpPr>
        <p:spPr>
          <a:xfrm>
            <a:off x="4470013" y="1738091"/>
            <a:ext cx="181416" cy="181416"/>
          </a:xfrm>
          <a:prstGeom prst="ellipse">
            <a:avLst/>
          </a:prstGeom>
          <a:solidFill>
            <a:srgbClr val="FFFFFF"/>
          </a:solidFill>
          <a:ln>
            <a:noFill/>
          </a:ln>
        </p:spPr>
        <p:txBody>
          <a:bodyPr rtlCol="0" anchor="ctr"/>
          <a:lstStyle/>
          <a:p>
            <a:pPr algn="ctr"/>
          </a:p>
        </p:txBody>
      </p:sp>
      <p:sp>
        <p:nvSpPr>
          <p:cNvPr id="5" name="Oval 4"/>
          <p:cNvSpPr/>
          <p:nvPr/>
        </p:nvSpPr>
        <p:spPr>
          <a:xfrm>
            <a:off x="685800" y="1682496"/>
            <a:ext cx="292608" cy="292608"/>
          </a:xfrm>
          <a:prstGeom prst="ellipse">
            <a:avLst/>
          </a:prstGeom>
          <a:solidFill>
            <a:srgbClr val="F2B705"/>
          </a:solidFill>
          <a:ln>
            <a:noFill/>
          </a:ln>
        </p:spPr>
        <p:txBody>
          <a:bodyPr rtlCol="0" anchor="ctr"/>
          <a:lstStyle/>
          <a:p>
            <a:pPr algn="ctr"/>
          </a:p>
        </p:txBody>
      </p:sp>
      <p:sp>
        <p:nvSpPr>
          <p:cNvPr id="6" name="Oval 5"/>
          <p:cNvSpPr/>
          <p:nvPr/>
        </p:nvSpPr>
        <p:spPr>
          <a:xfrm>
            <a:off x="8143036" y="1682496"/>
            <a:ext cx="292608" cy="292608"/>
          </a:xfrm>
          <a:prstGeom prst="ellipse">
            <a:avLst/>
          </a:prstGeom>
          <a:noFill/>
          <a:ln w="32861">
            <a:solidFill>
              <a:srgbClr val="FFFFFF"/>
            </a:solidFill>
          </a:ln>
        </p:spPr>
        <p:txBody>
          <a:bodyPr rtlCol="0" anchor="ctr"/>
          <a:lstStyle/>
          <a:p>
            <a:pPr algn="ctr"/>
          </a:p>
        </p:txBody>
      </p:sp>
      <p:sp>
        <p:nvSpPr>
          <p:cNvPr id="7" name="TextBox 6"/>
          <p:cNvSpPr txBox="1"/>
          <p:nvPr/>
        </p:nvSpPr>
        <p:spPr>
          <a:xfrm>
            <a:off x="685800" y="2240280"/>
            <a:ext cx="3362858" cy="457200"/>
          </a:xfrm>
          <a:prstGeom prst="rect">
            <a:avLst/>
          </a:prstGeom>
          <a:noFill/>
        </p:spPr>
        <p:txBody>
          <a:bodyPr wrap="square" lIns="0" rIns="0" tIns="0" bIns="0" anchor="t">
            <a:noAutofit/>
          </a:bodyPr>
          <a:lstStyle/>
          <a:p>
            <a:pPr algn="l"/>
            <a:r>
              <a:rPr sz="2200" b="1">
                <a:solidFill>
                  <a:srgbClr val="FFFFFF"/>
                </a:solidFill>
                <a:latin typeface="Arial"/>
              </a:rPr>
              <a:t>Deploy on CRE</a:t>
            </a:r>
          </a:p>
        </p:txBody>
      </p:sp>
      <p:sp>
        <p:nvSpPr>
          <p:cNvPr id="8" name="TextBox 7"/>
          <p:cNvSpPr txBox="1"/>
          <p:nvPr/>
        </p:nvSpPr>
        <p:spPr>
          <a:xfrm>
            <a:off x="685800" y="2743200"/>
            <a:ext cx="3179978" cy="822960"/>
          </a:xfrm>
          <a:prstGeom prst="rect">
            <a:avLst/>
          </a:prstGeom>
          <a:noFill/>
        </p:spPr>
        <p:txBody>
          <a:bodyPr wrap="square" lIns="0" rIns="0" tIns="0" bIns="0" anchor="t">
            <a:noAutofit/>
          </a:bodyPr>
          <a:lstStyle/>
          <a:p>
            <a:pPr algn="l">
              <a:lnSpc>
                <a:spcPct val="110000"/>
              </a:lnSpc>
            </a:pPr>
            <a:r>
              <a:rPr sz="1600" b="0">
                <a:solidFill>
                  <a:srgbClr val="A9B6C2"/>
                </a:solidFill>
                <a:latin typeface="Arial"/>
              </a:rPr>
              <a:t>On the CRE network, with confidential compute for the listing handler</a:t>
            </a:r>
          </a:p>
        </p:txBody>
      </p:sp>
      <p:sp>
        <p:nvSpPr>
          <p:cNvPr id="9" name="TextBox 8"/>
          <p:cNvSpPr txBox="1"/>
          <p:nvPr/>
        </p:nvSpPr>
        <p:spPr>
          <a:xfrm>
            <a:off x="4414418" y="2240280"/>
            <a:ext cx="3362858" cy="457200"/>
          </a:xfrm>
          <a:prstGeom prst="rect">
            <a:avLst/>
          </a:prstGeom>
          <a:noFill/>
        </p:spPr>
        <p:txBody>
          <a:bodyPr wrap="square" lIns="0" rIns="0" tIns="0" bIns="0" anchor="t">
            <a:noAutofit/>
          </a:bodyPr>
          <a:lstStyle/>
          <a:p>
            <a:pPr algn="l"/>
            <a:r>
              <a:rPr sz="2200" b="1">
                <a:solidFill>
                  <a:srgbClr val="FFFFFF"/>
                </a:solidFill>
                <a:latin typeface="Arial"/>
              </a:rPr>
              <a:t>Banking partners</a:t>
            </a:r>
          </a:p>
        </p:txBody>
      </p:sp>
      <p:sp>
        <p:nvSpPr>
          <p:cNvPr id="10" name="TextBox 9"/>
          <p:cNvSpPr txBox="1"/>
          <p:nvPr/>
        </p:nvSpPr>
        <p:spPr>
          <a:xfrm>
            <a:off x="4414418" y="2743200"/>
            <a:ext cx="3179978" cy="822960"/>
          </a:xfrm>
          <a:prstGeom prst="rect">
            <a:avLst/>
          </a:prstGeom>
          <a:noFill/>
        </p:spPr>
        <p:txBody>
          <a:bodyPr wrap="square" lIns="0" rIns="0" tIns="0" bIns="0" anchor="t">
            <a:noAutofit/>
          </a:bodyPr>
          <a:lstStyle/>
          <a:p>
            <a:pPr algn="l">
              <a:lnSpc>
                <a:spcPct val="110000"/>
              </a:lnSpc>
            </a:pPr>
            <a:r>
              <a:rPr sz="1600" b="0">
                <a:solidFill>
                  <a:srgbClr val="A9B6C2"/>
                </a:solidFill>
                <a:latin typeface="Arial"/>
              </a:rPr>
              <a:t>Real banks, on-ramps and payout providers behind the same workflows</a:t>
            </a:r>
          </a:p>
        </p:txBody>
      </p:sp>
      <p:sp>
        <p:nvSpPr>
          <p:cNvPr id="11" name="TextBox 10"/>
          <p:cNvSpPr txBox="1"/>
          <p:nvPr/>
        </p:nvSpPr>
        <p:spPr>
          <a:xfrm>
            <a:off x="8143036" y="2240280"/>
            <a:ext cx="3362858" cy="457200"/>
          </a:xfrm>
          <a:prstGeom prst="rect">
            <a:avLst/>
          </a:prstGeom>
          <a:noFill/>
        </p:spPr>
        <p:txBody>
          <a:bodyPr wrap="square" lIns="0" rIns="0" tIns="0" bIns="0" anchor="t">
            <a:noAutofit/>
          </a:bodyPr>
          <a:lstStyle/>
          <a:p>
            <a:pPr algn="l"/>
            <a:r>
              <a:rPr sz="2200" b="1">
                <a:solidFill>
                  <a:srgbClr val="FFFFFF"/>
                </a:solidFill>
                <a:latin typeface="Arial"/>
              </a:rPr>
              <a:t>More documents</a:t>
            </a:r>
          </a:p>
        </p:txBody>
      </p:sp>
      <p:sp>
        <p:nvSpPr>
          <p:cNvPr id="12" name="TextBox 11"/>
          <p:cNvSpPr txBox="1"/>
          <p:nvPr/>
        </p:nvSpPr>
        <p:spPr>
          <a:xfrm>
            <a:off x="8143036" y="2743200"/>
            <a:ext cx="3179978" cy="822960"/>
          </a:xfrm>
          <a:prstGeom prst="rect">
            <a:avLst/>
          </a:prstGeom>
          <a:noFill/>
        </p:spPr>
        <p:txBody>
          <a:bodyPr wrap="square" lIns="0" rIns="0" tIns="0" bIns="0" anchor="t">
            <a:noAutofit/>
          </a:bodyPr>
          <a:lstStyle/>
          <a:p>
            <a:pPr algn="l">
              <a:lnSpc>
                <a:spcPct val="110000"/>
              </a:lnSpc>
            </a:pPr>
            <a:r>
              <a:rPr sz="1600" b="0">
                <a:solidFill>
                  <a:srgbClr val="A9B6C2"/>
                </a:solidFill>
                <a:latin typeface="Arial"/>
              </a:rPr>
              <a:t>More document types and trade corridors, the same CRE decisions</a:t>
            </a:r>
          </a:p>
        </p:txBody>
      </p:sp>
      <p:sp>
        <p:nvSpPr>
          <p:cNvPr id="13" name="Oval 12"/>
          <p:cNvSpPr/>
          <p:nvPr/>
        </p:nvSpPr>
        <p:spPr>
          <a:xfrm>
            <a:off x="704088" y="4718303"/>
            <a:ext cx="201168" cy="201168"/>
          </a:xfrm>
          <a:prstGeom prst="ellipse">
            <a:avLst/>
          </a:prstGeom>
          <a:solidFill>
            <a:srgbClr val="F2B705"/>
          </a:solidFill>
          <a:ln>
            <a:noFill/>
          </a:ln>
        </p:spPr>
        <p:txBody>
          <a:bodyPr rtlCol="0" anchor="ctr"/>
          <a:lstStyle/>
          <a:p>
            <a:pPr algn="ctr"/>
          </a:p>
        </p:txBody>
      </p:sp>
      <p:cxnSp>
        <p:nvCxnSpPr>
          <p:cNvPr id="14" name="Connector 13"/>
          <p:cNvCxnSpPr/>
          <p:nvPr/>
        </p:nvCxnSpPr>
        <p:spPr>
          <a:xfrm>
            <a:off x="978408" y="4818888"/>
            <a:ext cx="274320" cy="0"/>
          </a:xfrm>
          <a:prstGeom prst="line">
            <a:avLst/>
          </a:prstGeom>
          <a:ln w="25400">
            <a:solidFill>
              <a:srgbClr val="FFFFFF"/>
            </a:solidFill>
            <a:prstDash val="dash"/>
          </a:ln>
        </p:spPr>
      </p:cxnSp>
      <p:sp>
        <p:nvSpPr>
          <p:cNvPr id="15" name="Oval 14"/>
          <p:cNvSpPr/>
          <p:nvPr/>
        </p:nvSpPr>
        <p:spPr>
          <a:xfrm>
            <a:off x="1316736" y="4718303"/>
            <a:ext cx="201168" cy="201168"/>
          </a:xfrm>
          <a:prstGeom prst="ellipse">
            <a:avLst/>
          </a:prstGeom>
          <a:noFill/>
          <a:ln w="28575">
            <a:solidFill>
              <a:srgbClr val="FFFFFF"/>
            </a:solidFill>
          </a:ln>
        </p:spPr>
        <p:txBody>
          <a:bodyPr rtlCol="0" anchor="ctr"/>
          <a:lstStyle/>
          <a:p>
            <a:pPr algn="ctr"/>
          </a:p>
        </p:txBody>
      </p:sp>
      <p:sp>
        <p:nvSpPr>
          <p:cNvPr id="16" name="TextBox 15"/>
          <p:cNvSpPr txBox="1"/>
          <p:nvPr/>
        </p:nvSpPr>
        <p:spPr>
          <a:xfrm>
            <a:off x="1691640" y="4434840"/>
            <a:ext cx="4572000" cy="731520"/>
          </a:xfrm>
          <a:prstGeom prst="rect">
            <a:avLst/>
          </a:prstGeom>
          <a:noFill/>
        </p:spPr>
        <p:txBody>
          <a:bodyPr wrap="square" lIns="0" rIns="0" tIns="0" bIns="0" anchor="t">
            <a:noAutofit/>
          </a:bodyPr>
          <a:lstStyle/>
          <a:p>
            <a:pPr algn="l"/>
            <a:r>
              <a:rPr sz="4000" b="1">
                <a:solidFill>
                  <a:srgbClr val="FFFFFF"/>
                </a:solidFill>
                <a:latin typeface="Arial"/>
              </a:rPr>
              <a:t>Tradeflow</a:t>
            </a:r>
          </a:p>
        </p:txBody>
      </p:sp>
      <p:sp>
        <p:nvSpPr>
          <p:cNvPr id="17" name="TextBox 16"/>
          <p:cNvSpPr txBox="1"/>
          <p:nvPr/>
        </p:nvSpPr>
        <p:spPr>
          <a:xfrm>
            <a:off x="685800" y="5303520"/>
            <a:ext cx="5486400" cy="457200"/>
          </a:xfrm>
          <a:prstGeom prst="rect">
            <a:avLst/>
          </a:prstGeom>
          <a:noFill/>
        </p:spPr>
        <p:txBody>
          <a:bodyPr wrap="square" lIns="0" rIns="0" tIns="0" bIns="0" anchor="t">
            <a:noAutofit/>
          </a:bodyPr>
          <a:lstStyle/>
          <a:p>
            <a:pPr algn="l"/>
            <a:r>
              <a:rPr sz="2200" b="1">
                <a:solidFill>
                  <a:srgbClr val="F2B705"/>
                </a:solidFill>
                <a:latin typeface="Arial"/>
              </a:rPr>
              <a:t>Fund the goods already on their way.</a:t>
            </a:r>
          </a:p>
        </p:txBody>
      </p:sp>
      <p:sp>
        <p:nvSpPr>
          <p:cNvPr id="18" name="TextBox 17"/>
          <p:cNvSpPr txBox="1"/>
          <p:nvPr/>
        </p:nvSpPr>
        <p:spPr>
          <a:xfrm>
            <a:off x="6949440" y="4480559"/>
            <a:ext cx="4556455" cy="365760"/>
          </a:xfrm>
          <a:prstGeom prst="rect">
            <a:avLst/>
          </a:prstGeom>
          <a:noFill/>
        </p:spPr>
        <p:txBody>
          <a:bodyPr wrap="square" lIns="0" rIns="0" tIns="0" bIns="0" anchor="t">
            <a:noAutofit/>
          </a:bodyPr>
          <a:lstStyle/>
          <a:p>
            <a:pPr algn="l"/>
            <a:r>
              <a:rPr sz="2000" b="1">
                <a:solidFill>
                  <a:srgbClr val="FFFFFF"/>
                </a:solidFill>
                <a:latin typeface="Arial"/>
              </a:rPr>
              <a:t>Maadhav Sharma</a:t>
            </a:r>
          </a:p>
        </p:txBody>
      </p:sp>
      <p:sp>
        <p:nvSpPr>
          <p:cNvPr id="19" name="TextBox 18"/>
          <p:cNvSpPr txBox="1"/>
          <p:nvPr/>
        </p:nvSpPr>
        <p:spPr>
          <a:xfrm>
            <a:off x="6949440" y="4864607"/>
            <a:ext cx="4556455" cy="320040"/>
          </a:xfrm>
          <a:prstGeom prst="rect">
            <a:avLst/>
          </a:prstGeom>
          <a:noFill/>
        </p:spPr>
        <p:txBody>
          <a:bodyPr wrap="square" lIns="0" rIns="0" tIns="0" bIns="0" anchor="t">
            <a:noAutofit/>
          </a:bodyPr>
          <a:lstStyle/>
          <a:p>
            <a:pPr algn="l"/>
            <a:r>
              <a:rPr sz="1600" b="0">
                <a:solidFill>
                  <a:srgbClr val="A9B6C2"/>
                </a:solidFill>
                <a:latin typeface="Arial"/>
              </a:rPr>
              <a:t>Founder &amp; CEO, CodeDecoders</a:t>
            </a:r>
          </a:p>
        </p:txBody>
      </p:sp>
      <p:sp>
        <p:nvSpPr>
          <p:cNvPr id="20" name="TextBox 19"/>
          <p:cNvSpPr txBox="1"/>
          <p:nvPr/>
        </p:nvSpPr>
        <p:spPr>
          <a:xfrm>
            <a:off x="6949440" y="5349240"/>
            <a:ext cx="4556455" cy="320040"/>
          </a:xfrm>
          <a:prstGeom prst="rect">
            <a:avLst/>
          </a:prstGeom>
          <a:noFill/>
        </p:spPr>
        <p:txBody>
          <a:bodyPr wrap="square" lIns="0" rIns="0" tIns="0" bIns="0" anchor="t">
            <a:noAutofit/>
          </a:bodyPr>
          <a:lstStyle/>
          <a:p>
            <a:pPr algn="l"/>
            <a:r>
              <a:rPr sz="1600" b="0">
                <a:solidFill>
                  <a:srgbClr val="FFFFFF"/>
                </a:solidFill>
                <a:latin typeface="Arial"/>
              </a:rPr>
              <a:t>Built by CodeDecoders, the team behind GSOS</a:t>
            </a:r>
          </a:p>
        </p:txBody>
      </p:sp>
      <p:sp>
        <p:nvSpPr>
          <p:cNvPr id="21" name="TextBox 20"/>
          <p:cNvSpPr txBox="1"/>
          <p:nvPr/>
        </p:nvSpPr>
        <p:spPr>
          <a:xfrm>
            <a:off x="6949440" y="5696712"/>
            <a:ext cx="4556455" cy="320040"/>
          </a:xfrm>
          <a:prstGeom prst="rect">
            <a:avLst/>
          </a:prstGeom>
          <a:noFill/>
        </p:spPr>
        <p:txBody>
          <a:bodyPr wrap="square" lIns="0" rIns="0" tIns="0" bIns="0" anchor="t">
            <a:noAutofit/>
          </a:bodyPr>
          <a:lstStyle/>
          <a:p>
            <a:pPr algn="l"/>
            <a:r>
              <a:rPr sz="1400" b="0">
                <a:solidFill>
                  <a:srgbClr val="A9B6C2"/>
                </a:solidFill>
                <a:latin typeface="Arial"/>
              </a:rPr>
              <a:t>gsos.io    github.com/Maadhav/tradeflow</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4202B"/>
        </a:solidFill>
        <a:effectLst/>
      </p:bgPr>
    </p:bg>
    <p:spTree>
      <p:nvGrpSpPr>
        <p:cNvPr id="1" name=""/>
        <p:cNvGrpSpPr/>
        <p:nvPr/>
      </p:nvGrpSpPr>
      <p:grpSpPr/>
      <p:sp>
        <p:nvSpPr>
          <p:cNvPr id="2" name="Screen"/>
          <p:cNvSpPr/>
          <p:nvPr/>
        </p:nvSpPr>
        <p:spPr>
          <a:xfrm>
            <a:off x="612648" y="681228"/>
            <a:ext cx="8705088" cy="5495544"/>
          </a:xfrm>
          <a:prstGeom prst="roundRect">
            <a:avLst>
              <a:gd name="adj" fmla="val 1331"/>
            </a:avLst>
          </a:prstGeom>
          <a:solidFill>
            <a:srgbClr val="243444"/>
          </a:solidFill>
          <a:ln>
            <a:noFill/>
          </a:ln>
        </p:spPr>
        <p:txBody>
          <a:bodyPr rtlCol="0" anchor="ctr"/>
          <a:lstStyle/>
          <a:p>
            <a:pPr algn="ctr"/>
          </a:p>
        </p:txBody>
      </p:sp>
      <p:pic>
        <p:nvPicPr>
          <p:cNvPr id="3" name="Appendix">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685800" y="754380"/>
            <a:ext cx="8558784" cy="5349240"/>
          </a:xfrm>
          <a:prstGeom prst="rect">
            <a:avLst/>
          </a:prstGeom>
        </p:spPr>
      </p:pic>
      <p:sp>
        <p:nvSpPr>
          <p:cNvPr id="4" name="TextBox 3"/>
          <p:cNvSpPr txBox="1"/>
          <p:nvPr/>
        </p:nvSpPr>
        <p:spPr>
          <a:xfrm>
            <a:off x="9656063" y="708660"/>
            <a:ext cx="1849831" cy="548640"/>
          </a:xfrm>
          <a:prstGeom prst="rect">
            <a:avLst/>
          </a:prstGeom>
          <a:noFill/>
        </p:spPr>
        <p:txBody>
          <a:bodyPr wrap="square" lIns="0" rIns="0" tIns="0" bIns="0" anchor="t">
            <a:noAutofit/>
          </a:bodyPr>
          <a:lstStyle/>
          <a:p>
            <a:pPr algn="l"/>
            <a:r>
              <a:rPr sz="2800" b="1">
                <a:solidFill>
                  <a:srgbClr val="FFFFFF"/>
                </a:solidFill>
                <a:latin typeface="Arial"/>
              </a:rPr>
              <a:t>Appendix</a:t>
            </a:r>
          </a:p>
        </p:txBody>
      </p:sp>
      <p:sp>
        <p:nvSpPr>
          <p:cNvPr id="5" name="TextBox 4"/>
          <p:cNvSpPr txBox="1"/>
          <p:nvPr/>
        </p:nvSpPr>
        <p:spPr>
          <a:xfrm>
            <a:off x="9656063" y="1321308"/>
            <a:ext cx="1849831" cy="365760"/>
          </a:xfrm>
          <a:prstGeom prst="rect">
            <a:avLst/>
          </a:prstGeom>
          <a:noFill/>
        </p:spPr>
        <p:txBody>
          <a:bodyPr wrap="square" lIns="0" rIns="0" tIns="0" bIns="0" anchor="t">
            <a:noAutofit/>
          </a:bodyPr>
          <a:lstStyle/>
          <a:p>
            <a:pPr algn="l"/>
            <a:r>
              <a:rPr sz="2000" b="1">
                <a:solidFill>
                  <a:srgbClr val="F2B705"/>
                </a:solidFill>
                <a:latin typeface="Arial"/>
              </a:rPr>
              <a:t>2:46</a:t>
            </a:r>
          </a:p>
        </p:txBody>
      </p:sp>
      <p:sp>
        <p:nvSpPr>
          <p:cNvPr id="6" name="TextBox 5"/>
          <p:cNvSpPr txBox="1"/>
          <p:nvPr/>
        </p:nvSpPr>
        <p:spPr>
          <a:xfrm>
            <a:off x="9656063" y="1714500"/>
            <a:ext cx="1849831" cy="548640"/>
          </a:xfrm>
          <a:prstGeom prst="rect">
            <a:avLst/>
          </a:prstGeom>
          <a:noFill/>
        </p:spPr>
        <p:txBody>
          <a:bodyPr wrap="square" lIns="0" rIns="0" tIns="0" bIns="0" anchor="t">
            <a:noAutofit/>
          </a:bodyPr>
          <a:lstStyle/>
          <a:p>
            <a:pPr algn="l">
              <a:lnSpc>
                <a:spcPct val="110000"/>
              </a:lnSpc>
            </a:pPr>
            <a:r>
              <a:rPr sz="1200" b="0">
                <a:solidFill>
                  <a:srgbClr val="A9B6C2"/>
                </a:solidFill>
                <a:latin typeface="Arial"/>
              </a:rPr>
              <a:t>Full walkthrough: the longer cut of the same Sepolia take. Sign-up, the buyer link, a bank lender and a wallet lender, payout, repayment, the circuit breaker and the late loan. Click the video to play.</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3"/>
                </p:tgtEl>
              </p:cMediaNode>
            </p:vide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Widescreen</PresentationFormat>
  <Paragraphs>0</Paragraphs>
  <Slides>10</Slides>
  <Notes>10</Notes>
  <HiddenSlides>0</HiddenSlides>
  <MMClips>2</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Tradeflow</dc:title>
  <dc:subject>Fund the goods already on their way.</dc:subject>
  <dc:creator>Maadhav Sharma</dc:creator>
  <cp:keywords/>
  <dc:description/>
  <cp:lastModifiedBy>Maadhav Sharma</cp:lastModifiedBy>
  <cp:revision>1</cp:revision>
  <dcterms:created xsi:type="dcterms:W3CDTF">2026-10-07T04:20:36Z</dcterms:created>
  <dcterms:modified xsi:type="dcterms:W3CDTF">2026-10-07T04:20:36Z</dcterms:modified>
  <cp:category/>
</cp:coreProperties>
</file>